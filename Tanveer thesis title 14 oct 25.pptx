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0"/>
  </p:notesMasterIdLst>
  <p:sldIdLst>
    <p:sldId id="256" r:id="rId2"/>
    <p:sldId id="264" r:id="rId3"/>
    <p:sldId id="263" r:id="rId4"/>
    <p:sldId id="259" r:id="rId5"/>
    <p:sldId id="257" r:id="rId6"/>
    <p:sldId id="258" r:id="rId7"/>
    <p:sldId id="269" r:id="rId8"/>
    <p:sldId id="270" r:id="rId9"/>
    <p:sldId id="262" r:id="rId10"/>
    <p:sldId id="268" r:id="rId11"/>
    <p:sldId id="260" r:id="rId12"/>
    <p:sldId id="261" r:id="rId13"/>
    <p:sldId id="265" r:id="rId14"/>
    <p:sldId id="266" r:id="rId15"/>
    <p:sldId id="271" r:id="rId16"/>
    <p:sldId id="272" r:id="rId17"/>
    <p:sldId id="273" r:id="rId18"/>
    <p:sldId id="26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F6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2" autoAdjust="0"/>
    <p:restoredTop sz="94660"/>
  </p:normalViewPr>
  <p:slideViewPr>
    <p:cSldViewPr snapToGrid="0">
      <p:cViewPr varScale="1">
        <p:scale>
          <a:sx n="79" d="100"/>
          <a:sy n="79" d="100"/>
        </p:scale>
        <p:origin x="259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B5C589-8FA9-4131-8E3C-3881B8EDF1EB}" type="datetimeFigureOut">
              <a:rPr lang="en-SG" smtClean="0"/>
              <a:t>28/4/2026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4442AC-45B4-40E5-B363-896997AF173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05045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4442AC-45B4-40E5-B363-896997AF1734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31765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7C2DB-FDBD-B2D8-0D9B-12A1C31A60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B96A06-8C42-6E72-8E02-1A6A46B004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DC921E-6723-B81C-231D-BCAF0D41E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CF615-70EF-4E95-9E76-20CC530FBC02}" type="datetime1">
              <a:rPr lang="en-SG" smtClean="0"/>
              <a:t>28/4/2026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37486-81B6-A65E-8DAA-57F615F7A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F632A-1110-9C50-D7DB-AFD4FC70B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34419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14C42-46FC-F979-9FB9-D905CC3A2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B4DE9-362A-3B4E-06C1-B197C09B5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A7318B-0E09-3356-36D2-26174AC09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05EF8-9EF8-45D4-B4AE-64A442CFC7C7}" type="datetime1">
              <a:rPr lang="en-SG" smtClean="0"/>
              <a:t>28/4/2026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0D0CA-1544-B5C7-F7B0-0694339E9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D576D-0237-D192-845F-BE5094E0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83114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E95C5-E4AE-3A9C-A801-D94E4B0BF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B99DEA-ACF6-55FA-78AA-F3E14E1930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4D6CC-6352-7BB6-650B-858C3EC5C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4E2BA-3704-45D5-83A5-237F51F44A65}" type="datetime1">
              <a:rPr lang="en-SG" smtClean="0"/>
              <a:t>28/4/2026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B6DAD-C4E2-27EB-78CF-E9DDB52A8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3F371-A32E-749E-1E45-6B3B4053C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52732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93EC4-3A74-E09C-1A33-71BF3AE1A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44AE5-3E6E-5956-2B14-B6A2AF8A54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CAD884-E60F-4F5E-1380-151A482B83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E2CD8C-45F4-2995-AB86-5EF15056F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1532B-0D08-471D-8EB7-7B81C9B0A249}" type="datetime1">
              <a:rPr lang="en-SG" smtClean="0"/>
              <a:t>28/4/2026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4F48D-DA62-6365-2538-29721C18A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5F7B21-3CB8-7899-E2C7-1CA8F1DB3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62590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FF1FD-4D5B-3B0A-BC59-9BF510677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4921DC-42B9-D4B4-2B64-7C610A622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5F977A-5590-CC2D-E057-2146BCC16D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9BAF04-EA5B-8B20-1929-1E22360759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BC589A-D600-98D6-ABBA-9BF1B580F5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38F7DA-8D44-C40A-FB34-A3422C07F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05EC-0668-4EA9-8B66-E353B9D84D6A}" type="datetime1">
              <a:rPr lang="en-SG" smtClean="0"/>
              <a:t>28/4/2026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AF1C0E-C105-005B-E4BE-61420CAE8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4B36F3-84E0-F8B6-AC8C-1BB696BB2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89388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A7F20-0638-AB60-DF97-DF2837402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79E3DC-0000-94A7-47BB-BBB7834A8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D5780-0AF3-415F-924D-2792B3726668}" type="datetime1">
              <a:rPr lang="en-SG" smtClean="0"/>
              <a:t>28/4/2026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1F409A-0CD4-946C-E114-946A157C3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EE96AC-D5BA-8417-3BC9-D91B1DE6A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2969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04078F-49DB-2679-7BF1-FD34A7D68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5950B-B665-48BD-9E62-6A88DC40C473}" type="datetime1">
              <a:rPr lang="en-SG" smtClean="0"/>
              <a:t>28/4/2026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FDD62C-C755-8015-CE2D-D9BD55A04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B098CD-A9A0-1C30-99B0-844E5DF2E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14728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27D35-BC9F-DAAD-CF46-BA4E3E202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EB2B8-1619-B72D-8CB7-5651C4B5C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106567-868E-033C-BEF0-CB3A882F8D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00894B-8FDA-252D-9D54-48422130A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4EBDC-204E-4381-926B-F4CF50AC52F3}" type="datetime1">
              <a:rPr lang="en-SG" smtClean="0"/>
              <a:t>28/4/2026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41DDB9-4999-E54E-9DC9-C652A06A1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CF8C99-15AB-C811-A97B-78503079E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84986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86990-F5C6-7951-DF74-27BD193BB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611E98-BF16-CAAE-43FA-85E095D2BC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EDB4A4-CBEA-24E6-D6FD-826EC389F4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26CCF1-1F08-DF2B-4604-6B7840ABD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4F37C-EDE2-4802-82F9-1A7B8EB3D2EF}" type="datetime1">
              <a:rPr lang="en-SG" smtClean="0"/>
              <a:t>28/4/2026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B02F19-8150-6726-5854-BD1D7B15D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E0DC89-32E5-3070-0748-DAE8D7E87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77400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1AD74-DEC2-4F65-E2EE-A89FF6578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9673DD-3B73-CE36-1043-25A4BA61C8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42AA2-8BCE-0ABC-08CA-F54B180D3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1B1BB-C852-4E9D-B5A6-F2DBC6F77CF0}" type="datetime1">
              <a:rPr lang="en-SG" smtClean="0"/>
              <a:t>28/4/2026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5B69B-64C9-A9D8-5A0D-5289B0C0B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65A3C-72E1-EF5C-E2D5-E80C1F172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17065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816DAF-D9D9-F5F3-BD1A-271544F3B3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8A8278-13C5-ED2C-5EB4-89E3067E84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114A1-E26A-0B3B-3BE9-76FD057DE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94CFF-FB03-4F04-8898-8C5C050D1EDD}" type="datetime1">
              <a:rPr lang="en-SG" smtClean="0"/>
              <a:t>28/4/2026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6D48F-F070-6C3C-CF88-B928FA07D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8E38CB-79F2-D5A6-2E40-08473F19A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2667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13B84D-8690-5F9D-ED32-E8BD46C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5D7360-F4B5-AFD3-3297-3B746F19D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E59AA-056A-634F-DA1E-BB8F880229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EEDD5C-7341-4C24-AE3B-8C4B05626FA4}" type="datetime1">
              <a:rPr lang="en-SG" smtClean="0"/>
              <a:t>28/4/2026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7C523-0B3F-18B0-9F0F-A4849E9C34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79270-DF98-C266-B5D5-E0F220AADD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AA9BC9-D8B1-4891-B6BA-9E7C0DED908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80858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be.com/clip/UgkxtnVWC6YLheHc0oQrMGhgCyQ5Mr6N0nkY?si=6asfN9C_-fxb4fp-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F72B29D-1897-7B98-9541-2F9961017FAB}"/>
              </a:ext>
            </a:extLst>
          </p:cNvPr>
          <p:cNvSpPr/>
          <p:nvPr/>
        </p:nvSpPr>
        <p:spPr>
          <a:xfrm>
            <a:off x="83863" y="1506057"/>
            <a:ext cx="12192000" cy="127443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softEdge rad="381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0BF173-8A9E-3738-2979-4FAE7ADE60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962" y="1775580"/>
            <a:ext cx="11944350" cy="821470"/>
          </a:xfrm>
          <a:noFill/>
          <a:effectLst>
            <a:softEdge rad="101600"/>
          </a:effectLst>
        </p:spPr>
        <p:txBody>
          <a:bodyPr>
            <a:normAutofit fontScale="90000"/>
          </a:bodyPr>
          <a:lstStyle/>
          <a:p>
            <a:r>
              <a:rPr lang="en-GB" sz="2400" dirty="0"/>
              <a:t>Sustainable Urban Transport: </a:t>
            </a:r>
            <a:br>
              <a:rPr lang="en-GB" sz="2400" dirty="0"/>
            </a:br>
            <a:r>
              <a:rPr lang="en-GB" sz="2400" dirty="0"/>
              <a:t>Optimising Traffic Flow, Safety and Carbon Emission </a:t>
            </a:r>
            <a:br>
              <a:rPr lang="en-GB" sz="2400" dirty="0"/>
            </a:br>
            <a:r>
              <a:rPr lang="en-GB" sz="2400" dirty="0"/>
              <a:t>on an Urban Highway Corridor of Bangladesh</a:t>
            </a:r>
            <a:endParaRPr lang="en-SG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AB04C4-3213-7391-3906-1EC696717D9D}"/>
              </a:ext>
            </a:extLst>
          </p:cNvPr>
          <p:cNvSpPr txBox="1"/>
          <p:nvPr/>
        </p:nvSpPr>
        <p:spPr>
          <a:xfrm>
            <a:off x="-83863" y="958205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400" dirty="0">
                <a:solidFill>
                  <a:schemeClr val="accent6">
                    <a:lumMod val="75000"/>
                  </a:schemeClr>
                </a:solidFill>
              </a:rPr>
              <a:t>Research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0A7376-9D99-F360-B113-29065FC5BAFC}"/>
              </a:ext>
            </a:extLst>
          </p:cNvPr>
          <p:cNvSpPr txBox="1"/>
          <p:nvPr/>
        </p:nvSpPr>
        <p:spPr>
          <a:xfrm>
            <a:off x="0" y="31362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pc="300" dirty="0">
                <a:solidFill>
                  <a:schemeClr val="accent6">
                    <a:lumMod val="75000"/>
                  </a:schemeClr>
                </a:solidFill>
              </a:rPr>
              <a:t>HUSSEIN MD TANVEER</a:t>
            </a:r>
          </a:p>
          <a:p>
            <a:pPr algn="ctr"/>
            <a:r>
              <a:rPr lang="en-SG" spc="300" dirty="0">
                <a:solidFill>
                  <a:schemeClr val="accent6">
                    <a:lumMod val="75000"/>
                  </a:schemeClr>
                </a:solidFill>
              </a:rPr>
              <a:t>M250436</a:t>
            </a:r>
          </a:p>
        </p:txBody>
      </p:sp>
      <p:pic>
        <p:nvPicPr>
          <p:cNvPr id="7" name="Picture 6" descr="A logo with leaves and text&#10;&#10;AI-generated content may be incorrect.">
            <a:extLst>
              <a:ext uri="{FF2B5EF4-FFF2-40B4-BE49-F238E27FC236}">
                <a16:creationId xmlns:a16="http://schemas.microsoft.com/office/drawing/2014/main" id="{3DECB541-40D7-654B-E544-F968F0E2EC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3280" y="5588797"/>
            <a:ext cx="580895" cy="5692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497AD2A-C855-5A23-BFCB-5C3985A3AAE8}"/>
              </a:ext>
            </a:extLst>
          </p:cNvPr>
          <p:cNvSpPr txBox="1"/>
          <p:nvPr/>
        </p:nvSpPr>
        <p:spPr>
          <a:xfrm>
            <a:off x="0" y="621577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400" spc="300" dirty="0">
                <a:solidFill>
                  <a:schemeClr val="accent6">
                    <a:lumMod val="75000"/>
                  </a:schemeClr>
                </a:solidFill>
              </a:rPr>
              <a:t>HIROSHIMA </a:t>
            </a:r>
            <a:r>
              <a:rPr lang="en-SG" sz="2000" spc="300" dirty="0">
                <a:solidFill>
                  <a:schemeClr val="accent6">
                    <a:lumMod val="75000"/>
                  </a:schemeClr>
                </a:solidFill>
              </a:rPr>
              <a:t>UNIVERSITY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836123-ACE0-1ABF-B272-3C03AF203C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6474" y="4138241"/>
            <a:ext cx="2034506" cy="1017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182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D52C1-7278-BC51-0B3A-C7778234F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77887"/>
            <a:ext cx="12192000" cy="644525"/>
          </a:xfrm>
          <a:solidFill>
            <a:schemeClr val="accent6">
              <a:lumMod val="40000"/>
              <a:lumOff val="60000"/>
              <a:alpha val="23000"/>
            </a:schemeClr>
          </a:solidFill>
        </p:spPr>
        <p:txBody>
          <a:bodyPr>
            <a:normAutofit/>
          </a:bodyPr>
          <a:lstStyle/>
          <a:p>
            <a:r>
              <a:rPr lang="en-SG" sz="2800" dirty="0">
                <a:solidFill>
                  <a:schemeClr val="accent4">
                    <a:lumMod val="75000"/>
                  </a:schemeClr>
                </a:solidFill>
              </a:rPr>
              <a:t>	Research objectives: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1D8F5-41B4-9AEE-3F8E-DAD9F348B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sz="2400" dirty="0"/>
              <a:t>To evaluate the performance regarding efficiency, safety and emission of the highway corridor.</a:t>
            </a:r>
            <a:endParaRPr lang="en-SG" sz="2400" dirty="0"/>
          </a:p>
          <a:p>
            <a:pPr lvl="0"/>
            <a:r>
              <a:rPr lang="en-GB" sz="2400" dirty="0"/>
              <a:t>To optimise the efficiency, safety and emission parameters.</a:t>
            </a:r>
            <a:endParaRPr lang="en-SG" sz="2400" dirty="0"/>
          </a:p>
          <a:p>
            <a:pPr marL="0" indent="0">
              <a:buNone/>
            </a:pP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E5810-BBA5-D427-A2E7-CAFAC3190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69269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32DB4-4C03-5CED-3FF7-2A496ACD0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SG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What an urban highway should cater primarily?</a:t>
            </a:r>
          </a:p>
          <a:p>
            <a:pPr marL="0" indent="0">
              <a:buNone/>
            </a:pPr>
            <a:endParaRPr lang="en-SG" sz="2400" b="1" dirty="0">
              <a:solidFill>
                <a:schemeClr val="accent2"/>
              </a:solidFill>
            </a:endParaRPr>
          </a:p>
          <a:p>
            <a:pPr marL="0" indent="0" algn="ctr">
              <a:buNone/>
            </a:pPr>
            <a:r>
              <a:rPr lang="en-SG" sz="2400" dirty="0">
                <a:solidFill>
                  <a:schemeClr val="accent5">
                    <a:lumMod val="75000"/>
                  </a:schemeClr>
                </a:solidFill>
              </a:rPr>
              <a:t>Mobility for transit vehicles?</a:t>
            </a:r>
          </a:p>
          <a:p>
            <a:pPr marL="0" indent="0" algn="ctr">
              <a:buNone/>
            </a:pPr>
            <a:r>
              <a:rPr lang="en-SG" sz="2400" dirty="0"/>
              <a:t>or</a:t>
            </a:r>
          </a:p>
          <a:p>
            <a:pPr marL="0" indent="0" algn="ctr">
              <a:buNone/>
            </a:pPr>
            <a:r>
              <a:rPr lang="en-SG" sz="2400" dirty="0">
                <a:solidFill>
                  <a:schemeClr val="accent3">
                    <a:lumMod val="75000"/>
                  </a:schemeClr>
                </a:solidFill>
              </a:rPr>
              <a:t>Accessibility and mobility for urban commuters?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99352B-82D5-EE16-C20E-900FB087C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3</a:t>
            </a:fld>
            <a:endParaRPr lang="en-SG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48394AA-4E67-F07F-8EF6-638036809C26}"/>
              </a:ext>
            </a:extLst>
          </p:cNvPr>
          <p:cNvSpPr txBox="1">
            <a:spLocks/>
          </p:cNvSpPr>
          <p:nvPr/>
        </p:nvSpPr>
        <p:spPr>
          <a:xfrm>
            <a:off x="0" y="877886"/>
            <a:ext cx="12192000" cy="644525"/>
          </a:xfrm>
          <a:prstGeom prst="rect">
            <a:avLst/>
          </a:prstGeom>
          <a:solidFill>
            <a:schemeClr val="accent6">
              <a:lumMod val="40000"/>
              <a:lumOff val="60000"/>
              <a:alpha val="23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3200" dirty="0">
                <a:solidFill>
                  <a:schemeClr val="accent4">
                    <a:lumMod val="75000"/>
                  </a:schemeClr>
                </a:solidFill>
              </a:rPr>
              <a:t>	</a:t>
            </a:r>
            <a:r>
              <a:rPr lang="en-SG" sz="2800" dirty="0">
                <a:solidFill>
                  <a:schemeClr val="accent4">
                    <a:lumMod val="75000"/>
                  </a:schemeClr>
                </a:solidFill>
              </a:rPr>
              <a:t>Research inspiration</a:t>
            </a:r>
          </a:p>
        </p:txBody>
      </p:sp>
    </p:spTree>
    <p:extLst>
      <p:ext uri="{BB962C8B-B14F-4D97-AF65-F5344CB8AC3E}">
        <p14:creationId xmlns:p14="http://schemas.microsoft.com/office/powerpoint/2010/main" val="4135732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7B180-480D-91CC-DB2B-39961A99A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550" y="1832763"/>
            <a:ext cx="10515600" cy="2574137"/>
          </a:xfrm>
        </p:spPr>
        <p:txBody>
          <a:bodyPr>
            <a:normAutofit/>
          </a:bodyPr>
          <a:lstStyle/>
          <a:p>
            <a:r>
              <a:rPr lang="en-SG" sz="2400" dirty="0"/>
              <a:t>In Bangladesh, most of the delays occur in the built up sections of any highway corridor.</a:t>
            </a:r>
          </a:p>
          <a:p>
            <a:r>
              <a:rPr lang="en-GB" sz="2400" dirty="0"/>
              <a:t>The need to traverse the corridor due to economic activities, augmented by the cultural behaviour of pedestrians and vehicle movement disrupt traffic flow</a:t>
            </a:r>
            <a:endParaRPr lang="en-SG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DABD7C-B621-2F31-23D8-6AF4FBD36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4</a:t>
            </a:fld>
            <a:endParaRPr lang="en-SG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C4C8A93-6FF0-AB1E-E4EE-9AFB9327BEC1}"/>
              </a:ext>
            </a:extLst>
          </p:cNvPr>
          <p:cNvSpPr txBox="1">
            <a:spLocks/>
          </p:cNvSpPr>
          <p:nvPr/>
        </p:nvSpPr>
        <p:spPr>
          <a:xfrm>
            <a:off x="0" y="877887"/>
            <a:ext cx="12192000" cy="644525"/>
          </a:xfrm>
          <a:prstGeom prst="rect">
            <a:avLst/>
          </a:prstGeom>
          <a:solidFill>
            <a:schemeClr val="accent6">
              <a:lumMod val="40000"/>
              <a:lumOff val="60000"/>
              <a:alpha val="23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3200" dirty="0">
                <a:solidFill>
                  <a:schemeClr val="accent4">
                    <a:lumMod val="75000"/>
                  </a:schemeClr>
                </a:solidFill>
              </a:rPr>
              <a:t>	</a:t>
            </a:r>
            <a:r>
              <a:rPr lang="en-SG" sz="2800" dirty="0">
                <a:solidFill>
                  <a:schemeClr val="accent4">
                    <a:lumMod val="75000"/>
                  </a:schemeClr>
                </a:solidFill>
              </a:rPr>
              <a:t>Why an Urban Highway Corridor?</a:t>
            </a:r>
          </a:p>
        </p:txBody>
      </p:sp>
    </p:spTree>
    <p:extLst>
      <p:ext uri="{BB962C8B-B14F-4D97-AF65-F5344CB8AC3E}">
        <p14:creationId xmlns:p14="http://schemas.microsoft.com/office/powerpoint/2010/main" val="3476887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map of a river&#10;&#10;AI-generated content may be incorrect.">
            <a:extLst>
              <a:ext uri="{FF2B5EF4-FFF2-40B4-BE49-F238E27FC236}">
                <a16:creationId xmlns:a16="http://schemas.microsoft.com/office/drawing/2014/main" id="{0FF88442-8354-D276-E1A9-25D07C80B3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717" y="211977"/>
            <a:ext cx="4708349" cy="6254092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D9E61-2B9B-F34F-B3BD-316C9726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z="1400" smtClean="0"/>
              <a:t>5</a:t>
            </a:fld>
            <a:endParaRPr lang="en-SG" sz="14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0E74CD2-3D0B-12D2-6945-9BFC5D5D0BD8}"/>
              </a:ext>
            </a:extLst>
          </p:cNvPr>
          <p:cNvSpPr txBox="1">
            <a:spLocks/>
          </p:cNvSpPr>
          <p:nvPr/>
        </p:nvSpPr>
        <p:spPr>
          <a:xfrm>
            <a:off x="0" y="877886"/>
            <a:ext cx="5702300" cy="1052514"/>
          </a:xfrm>
          <a:prstGeom prst="rect">
            <a:avLst/>
          </a:prstGeom>
          <a:solidFill>
            <a:schemeClr val="accent6">
              <a:lumMod val="40000"/>
              <a:lumOff val="60000"/>
              <a:alpha val="23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3200" dirty="0">
                <a:solidFill>
                  <a:schemeClr val="accent4">
                    <a:lumMod val="75000"/>
                  </a:schemeClr>
                </a:solidFill>
              </a:rPr>
              <a:t>	Location of the proposed</a:t>
            </a:r>
          </a:p>
          <a:p>
            <a:r>
              <a:rPr lang="en-SG" sz="3200" dirty="0">
                <a:solidFill>
                  <a:schemeClr val="accent4">
                    <a:lumMod val="75000"/>
                  </a:schemeClr>
                </a:solidFill>
              </a:rPr>
              <a:t>	highway corridor </a:t>
            </a:r>
          </a:p>
        </p:txBody>
      </p:sp>
    </p:spTree>
    <p:extLst>
      <p:ext uri="{BB962C8B-B14F-4D97-AF65-F5344CB8AC3E}">
        <p14:creationId xmlns:p14="http://schemas.microsoft.com/office/powerpoint/2010/main" val="2271540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CB1DA-7FC7-9F5B-4AD6-54CE321FA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map of a country with blue and red lines&#10;&#10;AI-generated content may be incorrect.">
            <a:extLst>
              <a:ext uri="{FF2B5EF4-FFF2-40B4-BE49-F238E27FC236}">
                <a16:creationId xmlns:a16="http://schemas.microsoft.com/office/drawing/2014/main" id="{829B1EF4-3425-2663-4281-8F89F6D4104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716" y="211976"/>
            <a:ext cx="4708349" cy="625409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9946187-2C05-2152-0334-ACFB4260C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6</a:t>
            </a:fld>
            <a:endParaRPr lang="en-SG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7206C01-1571-E010-4C91-B7FD22878893}"/>
              </a:ext>
            </a:extLst>
          </p:cNvPr>
          <p:cNvSpPr txBox="1">
            <a:spLocks/>
          </p:cNvSpPr>
          <p:nvPr/>
        </p:nvSpPr>
        <p:spPr>
          <a:xfrm>
            <a:off x="0" y="877886"/>
            <a:ext cx="5702300" cy="1052514"/>
          </a:xfrm>
          <a:prstGeom prst="rect">
            <a:avLst/>
          </a:prstGeom>
          <a:solidFill>
            <a:schemeClr val="accent6">
              <a:lumMod val="40000"/>
              <a:lumOff val="60000"/>
              <a:alpha val="23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3200" dirty="0">
                <a:solidFill>
                  <a:schemeClr val="accent4">
                    <a:lumMod val="75000"/>
                  </a:schemeClr>
                </a:solidFill>
              </a:rPr>
              <a:t>	Location of the proposed</a:t>
            </a:r>
          </a:p>
          <a:p>
            <a:r>
              <a:rPr lang="en-SG" sz="3200" dirty="0">
                <a:solidFill>
                  <a:schemeClr val="accent4">
                    <a:lumMod val="75000"/>
                  </a:schemeClr>
                </a:solidFill>
              </a:rPr>
              <a:t>	highway corridor </a:t>
            </a:r>
          </a:p>
        </p:txBody>
      </p:sp>
    </p:spTree>
    <p:extLst>
      <p:ext uri="{BB962C8B-B14F-4D97-AF65-F5344CB8AC3E}">
        <p14:creationId xmlns:p14="http://schemas.microsoft.com/office/powerpoint/2010/main" val="37950065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7F4F1-7AD0-91CF-8340-E8DB868D4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4299" y="2839383"/>
            <a:ext cx="3881718" cy="646997"/>
          </a:xfrm>
        </p:spPr>
        <p:txBody>
          <a:bodyPr>
            <a:normAutofit fontScale="90000"/>
          </a:bodyPr>
          <a:lstStyle/>
          <a:p>
            <a:r>
              <a:rPr lang="en-SG" dirty="0">
                <a:hlinkClick r:id="rId2"/>
              </a:rPr>
              <a:t>Video of Highway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0075F5-F6CB-003A-1607-F642708CF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41087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road with cars and trucks on it&#10;&#10;AI-generated content may be incorrect.">
            <a:extLst>
              <a:ext uri="{FF2B5EF4-FFF2-40B4-BE49-F238E27FC236}">
                <a16:creationId xmlns:a16="http://schemas.microsoft.com/office/drawing/2014/main" id="{8509EA52-B174-F013-4B80-0284348CD1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160" y="474331"/>
            <a:ext cx="11751679" cy="588201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08CF3F-BD3E-740C-C6CB-4A9024458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45856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road with cars and people on it&#10;&#10;AI-generated content may be incorrect.">
            <a:extLst>
              <a:ext uri="{FF2B5EF4-FFF2-40B4-BE49-F238E27FC236}">
                <a16:creationId xmlns:a16="http://schemas.microsoft.com/office/drawing/2014/main" id="{91078009-E13D-DB4E-79B7-1FB9B5EDAC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8123" y="0"/>
            <a:ext cx="5433878" cy="6858000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1E1E81-A96B-427A-F01C-5EC15C823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9</a:t>
            </a:fld>
            <a:endParaRPr lang="en-SG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64B1DFE-2214-E7B3-ABC4-A9103EEBC7AC}"/>
              </a:ext>
            </a:extLst>
          </p:cNvPr>
          <p:cNvSpPr txBox="1">
            <a:spLocks/>
          </p:cNvSpPr>
          <p:nvPr/>
        </p:nvSpPr>
        <p:spPr>
          <a:xfrm>
            <a:off x="0" y="877886"/>
            <a:ext cx="6394450" cy="1052514"/>
          </a:xfrm>
          <a:prstGeom prst="rect">
            <a:avLst/>
          </a:prstGeom>
          <a:solidFill>
            <a:schemeClr val="accent6">
              <a:lumMod val="40000"/>
              <a:lumOff val="60000"/>
              <a:alpha val="23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2800" dirty="0">
                <a:solidFill>
                  <a:schemeClr val="accent4">
                    <a:lumMod val="75000"/>
                  </a:schemeClr>
                </a:solidFill>
              </a:rPr>
              <a:t>Present condition</a:t>
            </a:r>
          </a:p>
        </p:txBody>
      </p:sp>
    </p:spTree>
    <p:extLst>
      <p:ext uri="{BB962C8B-B14F-4D97-AF65-F5344CB8AC3E}">
        <p14:creationId xmlns:p14="http://schemas.microsoft.com/office/powerpoint/2010/main" val="4209847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96101-84B6-224C-559A-19B718993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79744A-2713-FA68-62A7-1E5ED8A29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10</a:t>
            </a:fld>
            <a:endParaRPr lang="en-SG"/>
          </a:p>
        </p:txBody>
      </p:sp>
      <p:pic>
        <p:nvPicPr>
          <p:cNvPr id="3" name="Picture 2" descr="A road with cars and buildings in the background&#10;&#10;AI-generated content may be incorrect.">
            <a:extLst>
              <a:ext uri="{FF2B5EF4-FFF2-40B4-BE49-F238E27FC236}">
                <a16:creationId xmlns:a16="http://schemas.microsoft.com/office/drawing/2014/main" id="{994CBC90-F881-9E0B-6460-99524B5C00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9352" r="343"/>
          <a:stretch>
            <a:fillRect/>
          </a:stretch>
        </p:blipFill>
        <p:spPr>
          <a:xfrm>
            <a:off x="0" y="641350"/>
            <a:ext cx="12192000" cy="6216650"/>
          </a:xfrm>
          <a:prstGeom prst="rect">
            <a:avLst/>
          </a:prstGeom>
          <a:solidFill>
            <a:srgbClr val="00B0F0"/>
          </a:solidFill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54355D4F-4B4B-3B15-4BEA-B49BC6B6443F}"/>
              </a:ext>
            </a:extLst>
          </p:cNvPr>
          <p:cNvSpPr txBox="1">
            <a:spLocks/>
          </p:cNvSpPr>
          <p:nvPr/>
        </p:nvSpPr>
        <p:spPr>
          <a:xfrm>
            <a:off x="-57149" y="-57455"/>
            <a:ext cx="12249150" cy="698805"/>
          </a:xfrm>
          <a:prstGeom prst="rect">
            <a:avLst/>
          </a:prstGeom>
          <a:solidFill>
            <a:srgbClr val="92D050">
              <a:alpha val="22000"/>
            </a:srgb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pc="300" dirty="0">
                <a:solidFill>
                  <a:schemeClr val="accent5">
                    <a:lumMod val="75000"/>
                  </a:schemeClr>
                </a:solidFill>
              </a:rPr>
              <a:t>Present condition</a:t>
            </a:r>
          </a:p>
        </p:txBody>
      </p:sp>
    </p:spTree>
    <p:extLst>
      <p:ext uri="{BB962C8B-B14F-4D97-AF65-F5344CB8AC3E}">
        <p14:creationId xmlns:p14="http://schemas.microsoft.com/office/powerpoint/2010/main" val="3599443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B9554-2208-3ADF-B16D-0C7EF59BAE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5825" y="1654174"/>
            <a:ext cx="6051550" cy="5818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Baseline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79A565-244A-6403-6CD9-CB670F6DD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11</a:t>
            </a:fld>
            <a:endParaRPr lang="en-SG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91B3B9E-9831-C34E-1D44-DBE81E712C59}"/>
              </a:ext>
            </a:extLst>
          </p:cNvPr>
          <p:cNvSpPr txBox="1">
            <a:spLocks/>
          </p:cNvSpPr>
          <p:nvPr/>
        </p:nvSpPr>
        <p:spPr>
          <a:xfrm>
            <a:off x="0" y="877887"/>
            <a:ext cx="12192000" cy="644525"/>
          </a:xfrm>
          <a:prstGeom prst="rect">
            <a:avLst/>
          </a:prstGeom>
          <a:solidFill>
            <a:schemeClr val="accent6">
              <a:lumMod val="40000"/>
              <a:lumOff val="60000"/>
              <a:alpha val="23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3200" dirty="0">
                <a:solidFill>
                  <a:schemeClr val="accent4">
                    <a:lumMod val="75000"/>
                  </a:schemeClr>
                </a:solidFill>
              </a:rPr>
              <a:t>	</a:t>
            </a:r>
            <a:r>
              <a:rPr lang="en-SG" sz="2800" dirty="0">
                <a:solidFill>
                  <a:schemeClr val="accent4">
                    <a:lumMod val="75000"/>
                  </a:schemeClr>
                </a:solidFill>
              </a:rPr>
              <a:t>What to measure?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95FEB23-E536-DBE0-EC63-A84A33B7D522}"/>
              </a:ext>
            </a:extLst>
          </p:cNvPr>
          <p:cNvGrpSpPr/>
          <p:nvPr/>
        </p:nvGrpSpPr>
        <p:grpSpPr>
          <a:xfrm>
            <a:off x="8331200" y="2083775"/>
            <a:ext cx="2819400" cy="870020"/>
            <a:chOff x="8953500" y="2062976"/>
            <a:chExt cx="2819400" cy="870020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3DBE5CEB-5424-391D-AB4D-B2C3106D65CD}"/>
                </a:ext>
              </a:extLst>
            </p:cNvPr>
            <p:cNvSpPr/>
            <p:nvPr/>
          </p:nvSpPr>
          <p:spPr>
            <a:xfrm>
              <a:off x="8953500" y="2062976"/>
              <a:ext cx="2819400" cy="87002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  <a:alpha val="70000"/>
              </a:schemeClr>
            </a:soli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C38E618-10FB-DD70-3656-C15974DCC7EB}"/>
                </a:ext>
              </a:extLst>
            </p:cNvPr>
            <p:cNvSpPr txBox="1"/>
            <p:nvPr/>
          </p:nvSpPr>
          <p:spPr>
            <a:xfrm>
              <a:off x="9093200" y="2173540"/>
              <a:ext cx="23876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From real time data by video surveillance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F92B7AB-7170-731D-77D7-2754B17305DD}"/>
              </a:ext>
            </a:extLst>
          </p:cNvPr>
          <p:cNvGrpSpPr/>
          <p:nvPr/>
        </p:nvGrpSpPr>
        <p:grpSpPr>
          <a:xfrm>
            <a:off x="8331200" y="3298031"/>
            <a:ext cx="2784476" cy="789403"/>
            <a:chOff x="8988424" y="3221514"/>
            <a:chExt cx="2784476" cy="789403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55DE7EC9-998B-DC85-BBB5-105857F8262C}"/>
                </a:ext>
              </a:extLst>
            </p:cNvPr>
            <p:cNvSpPr/>
            <p:nvPr/>
          </p:nvSpPr>
          <p:spPr>
            <a:xfrm>
              <a:off x="8988424" y="3221514"/>
              <a:ext cx="2784476" cy="789403"/>
            </a:xfrm>
            <a:prstGeom prst="roundRect">
              <a:avLst/>
            </a:prstGeom>
            <a:solidFill>
              <a:srgbClr val="E4F6DE"/>
            </a:soli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782B8A-426D-42D0-8859-41F10EC2D484}"/>
                </a:ext>
              </a:extLst>
            </p:cNvPr>
            <p:cNvSpPr txBox="1"/>
            <p:nvPr/>
          </p:nvSpPr>
          <p:spPr>
            <a:xfrm>
              <a:off x="9039224" y="3293049"/>
              <a:ext cx="244157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By applying surrogate safety measures</a:t>
              </a:r>
              <a:endParaRPr lang="en-SG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A8B01E5-1F00-DB8D-32DC-EE5470B5EB0B}"/>
              </a:ext>
            </a:extLst>
          </p:cNvPr>
          <p:cNvGrpSpPr/>
          <p:nvPr/>
        </p:nvGrpSpPr>
        <p:grpSpPr>
          <a:xfrm>
            <a:off x="8382000" y="4913659"/>
            <a:ext cx="2784476" cy="789403"/>
            <a:chOff x="8966200" y="4489026"/>
            <a:chExt cx="2784476" cy="789403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62313E59-449D-DDF8-7E3B-79EB7CED30D1}"/>
                </a:ext>
              </a:extLst>
            </p:cNvPr>
            <p:cNvSpPr/>
            <p:nvPr/>
          </p:nvSpPr>
          <p:spPr>
            <a:xfrm>
              <a:off x="8966200" y="4489026"/>
              <a:ext cx="2784476" cy="789403"/>
            </a:xfrm>
            <a:prstGeom prst="roundRect">
              <a:avLst/>
            </a:prstGeom>
            <a:solidFill>
              <a:srgbClr val="E4F6DE"/>
            </a:soli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86FA81D-92A5-5206-8F72-88A1A63E3858}"/>
                </a:ext>
              </a:extLst>
            </p:cNvPr>
            <p:cNvSpPr txBox="1"/>
            <p:nvPr/>
          </p:nvSpPr>
          <p:spPr>
            <a:xfrm>
              <a:off x="9093200" y="4518973"/>
              <a:ext cx="22733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From vehicle speed and emission rate</a:t>
              </a:r>
              <a:endParaRPr lang="en-SG" dirty="0"/>
            </a:p>
          </p:txBody>
        </p:sp>
      </p:grp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02BC3FA-8067-38E5-7112-26E642048CFD}"/>
              </a:ext>
            </a:extLst>
          </p:cNvPr>
          <p:cNvSpPr txBox="1">
            <a:spLocks/>
          </p:cNvSpPr>
          <p:nvPr/>
        </p:nvSpPr>
        <p:spPr>
          <a:xfrm>
            <a:off x="885825" y="3298031"/>
            <a:ext cx="7143750" cy="1282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SG" sz="2400" dirty="0">
                <a:solidFill>
                  <a:schemeClr val="accent5">
                    <a:lumMod val="75000"/>
                  </a:schemeClr>
                </a:solidFill>
              </a:rPr>
              <a:t>Traffic Safety</a:t>
            </a:r>
            <a:r>
              <a:rPr lang="en-SG" sz="2400" dirty="0"/>
              <a:t>: </a:t>
            </a:r>
            <a:r>
              <a:rPr lang="en-GB" sz="2400" dirty="0"/>
              <a:t>time to collision (TTC), modified time to collision (MTTC), and headway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95B408D-3FF6-EC63-2EC5-75D3F8D76E95}"/>
              </a:ext>
            </a:extLst>
          </p:cNvPr>
          <p:cNvSpPr txBox="1">
            <a:spLocks/>
          </p:cNvSpPr>
          <p:nvPr/>
        </p:nvSpPr>
        <p:spPr>
          <a:xfrm>
            <a:off x="885825" y="5054689"/>
            <a:ext cx="7143750" cy="925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Emission: </a:t>
            </a:r>
            <a:r>
              <a:rPr lang="en-GB" sz="2400" dirty="0"/>
              <a:t>GHG emission/ fuel consumption</a:t>
            </a:r>
            <a:endParaRPr lang="en-SG" sz="24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AECC956-964E-6DE3-4A70-381D280D96FD}"/>
              </a:ext>
            </a:extLst>
          </p:cNvPr>
          <p:cNvSpPr txBox="1">
            <a:spLocks/>
          </p:cNvSpPr>
          <p:nvPr/>
        </p:nvSpPr>
        <p:spPr>
          <a:xfrm>
            <a:off x="885825" y="2326480"/>
            <a:ext cx="5988050" cy="644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SG" sz="2400" dirty="0">
                <a:solidFill>
                  <a:schemeClr val="accent5">
                    <a:lumMod val="75000"/>
                  </a:schemeClr>
                </a:solidFill>
              </a:rPr>
              <a:t>Traffic flow: </a:t>
            </a:r>
            <a:r>
              <a:rPr lang="en-SG" sz="2400" dirty="0"/>
              <a:t>Delay, Level of Service </a:t>
            </a:r>
          </a:p>
        </p:txBody>
      </p:sp>
    </p:spTree>
    <p:extLst>
      <p:ext uri="{BB962C8B-B14F-4D97-AF65-F5344CB8AC3E}">
        <p14:creationId xmlns:p14="http://schemas.microsoft.com/office/powerpoint/2010/main" val="26346530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23615-961D-BADE-AF79-7BDA35478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2800" dirty="0">
                <a:solidFill>
                  <a:schemeClr val="accent4">
                    <a:lumMod val="75000"/>
                  </a:schemeClr>
                </a:solidFill>
              </a:rPr>
              <a:t>Optimisation between scenarios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DCB88-B796-AD62-046B-0E38804B2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200" dirty="0"/>
              <a:t>After selecting a suitable section representing the corridor</a:t>
            </a:r>
            <a:r>
              <a:rPr lang="en-GB" sz="2200" b="1" dirty="0"/>
              <a:t>, </a:t>
            </a:r>
            <a:r>
              <a:rPr lang="en-GB" sz="2200" b="1" dirty="0">
                <a:solidFill>
                  <a:schemeClr val="accent5">
                    <a:lumMod val="75000"/>
                  </a:schemeClr>
                </a:solidFill>
              </a:rPr>
              <a:t>a simulation model will be developed with VISSIM software</a:t>
            </a:r>
            <a:r>
              <a:rPr lang="en-GB" sz="2200" dirty="0"/>
              <a:t>. After the model is validated, another model will be created by introducing an </a:t>
            </a:r>
            <a:r>
              <a:rPr lang="en-GB" sz="2200" b="1" dirty="0">
                <a:solidFill>
                  <a:schemeClr val="accent5">
                    <a:lumMod val="75000"/>
                  </a:schemeClr>
                </a:solidFill>
              </a:rPr>
              <a:t>HOV lane instead of the BRT lane</a:t>
            </a:r>
          </a:p>
          <a:p>
            <a:pPr marL="0" indent="0">
              <a:buNone/>
            </a:pPr>
            <a:endParaRPr lang="en-GB" sz="22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GB" sz="2200" dirty="0"/>
              <a:t>Finally, this research will optimise the </a:t>
            </a:r>
            <a:r>
              <a:rPr lang="en-GB" sz="2200" b="1" dirty="0">
                <a:solidFill>
                  <a:schemeClr val="accent5">
                    <a:lumMod val="75000"/>
                  </a:schemeClr>
                </a:solidFill>
              </a:rPr>
              <a:t>efficiency, safety and emission </a:t>
            </a:r>
            <a:r>
              <a:rPr lang="en-GB" sz="2200" dirty="0"/>
              <a:t>parameters to drive a sustainable shift towards a </a:t>
            </a:r>
            <a:r>
              <a:rPr lang="en-GB" sz="2200" b="1" dirty="0">
                <a:solidFill>
                  <a:srgbClr val="0070C0"/>
                </a:solidFill>
              </a:rPr>
              <a:t>smart city</a:t>
            </a:r>
            <a:r>
              <a:rPr lang="en-GB" sz="2200" dirty="0"/>
              <a:t>.</a:t>
            </a:r>
          </a:p>
          <a:p>
            <a:pPr marL="0" indent="0">
              <a:buNone/>
            </a:pPr>
            <a:endParaRPr lang="en-SG" sz="2200" dirty="0"/>
          </a:p>
          <a:p>
            <a:r>
              <a:rPr lang="en-GB" sz="2200" dirty="0"/>
              <a:t>For forecasting purposes, the model will be analysed for different scenarios representing different geometric configurations and time intervals. A multi-criteria decision analysis, such as Genetic Algorithm </a:t>
            </a:r>
            <a:r>
              <a:rPr lang="en-GB" sz="2200" b="1" dirty="0">
                <a:solidFill>
                  <a:schemeClr val="accent5">
                    <a:lumMod val="75000"/>
                  </a:schemeClr>
                </a:solidFill>
              </a:rPr>
              <a:t>(GA) </a:t>
            </a:r>
            <a:r>
              <a:rPr lang="en-GB" sz="2200" dirty="0"/>
              <a:t>or Non-dominated sorting genetic algorithm II </a:t>
            </a:r>
            <a:r>
              <a:rPr lang="en-GB" sz="2200" b="1" dirty="0">
                <a:solidFill>
                  <a:schemeClr val="accent5">
                    <a:lumMod val="75000"/>
                  </a:schemeClr>
                </a:solidFill>
              </a:rPr>
              <a:t>(NSGA-II) </a:t>
            </a:r>
            <a:r>
              <a:rPr lang="en-GB" sz="2200" dirty="0"/>
              <a:t>, may be applied to optimise efficiency, safety, and emissions.</a:t>
            </a:r>
            <a:endParaRPr lang="en-SG" sz="2200" dirty="0"/>
          </a:p>
          <a:p>
            <a:pPr marL="0" indent="0">
              <a:buNone/>
            </a:pP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1FEBD9-DEF3-C10F-5420-9E648D1C4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12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094817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E41A2-7AAE-0450-CB0B-37FC88B79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15" y="5798298"/>
            <a:ext cx="5308120" cy="567907"/>
          </a:xfrm>
        </p:spPr>
        <p:txBody>
          <a:bodyPr>
            <a:normAutofit/>
          </a:bodyPr>
          <a:lstStyle/>
          <a:p>
            <a:r>
              <a:rPr lang="en-US" sz="2400" b="1" dirty="0"/>
              <a:t>Base Emission Factors by Vehicle Type</a:t>
            </a:r>
            <a:endParaRPr lang="en-SG" sz="2400" b="1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9EBE2A8-F3C5-0333-FD81-951621082C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72" t="26637" r="21054" b="26201"/>
          <a:stretch>
            <a:fillRect/>
          </a:stretch>
        </p:blipFill>
        <p:spPr>
          <a:xfrm>
            <a:off x="5032667" y="444260"/>
            <a:ext cx="6728013" cy="5486400"/>
          </a:xfr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C9D201C-3E94-7143-CC10-4AED15688B14}"/>
              </a:ext>
            </a:extLst>
          </p:cNvPr>
          <p:cNvSpPr txBox="1">
            <a:spLocks/>
          </p:cNvSpPr>
          <p:nvPr/>
        </p:nvSpPr>
        <p:spPr>
          <a:xfrm>
            <a:off x="8196892" y="6456751"/>
            <a:ext cx="5308120" cy="5679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i="1" dirty="0"/>
              <a:t>Source: Bangladesh Highway Masterplan 2041</a:t>
            </a:r>
            <a:endParaRPr lang="en-SG" sz="1600" i="1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027F8EE-00AA-C062-5966-5EFB5ABAB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13</a:t>
            </a:fld>
            <a:endParaRPr lang="en-SG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56E78F5-0250-3045-33C1-2C7BD31DE349}"/>
              </a:ext>
            </a:extLst>
          </p:cNvPr>
          <p:cNvGrpSpPr/>
          <p:nvPr/>
        </p:nvGrpSpPr>
        <p:grpSpPr>
          <a:xfrm>
            <a:off x="540229" y="2351868"/>
            <a:ext cx="3282471" cy="1883581"/>
            <a:chOff x="806929" y="2586818"/>
            <a:chExt cx="3282471" cy="188358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06D45E1D-6A54-B1FC-4880-E723CA8C5678}"/>
                </a:ext>
              </a:extLst>
            </p:cNvPr>
            <p:cNvSpPr/>
            <p:nvPr/>
          </p:nvSpPr>
          <p:spPr>
            <a:xfrm>
              <a:off x="806929" y="2586818"/>
              <a:ext cx="3282471" cy="1883581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  <a:alpha val="40000"/>
              </a:schemeClr>
            </a:soli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13DF47C-7419-2C14-27FE-CBD01D2DED05}"/>
                </a:ext>
              </a:extLst>
            </p:cNvPr>
            <p:cNvSpPr txBox="1"/>
            <p:nvPr/>
          </p:nvSpPr>
          <p:spPr>
            <a:xfrm>
              <a:off x="989761" y="2741136"/>
              <a:ext cx="2909139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The relationship between vehicle speed and emission rate, as measured by the </a:t>
              </a:r>
              <a:r>
                <a:rPr lang="en-US" b="1" dirty="0"/>
                <a:t>Public Works Research Institute of Japan (PWRI</a:t>
              </a:r>
              <a:r>
                <a:rPr lang="en-US" dirty="0"/>
                <a:t>)</a:t>
              </a:r>
              <a:endParaRPr lang="en-SG" dirty="0"/>
            </a:p>
          </p:txBody>
        </p: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EFEA1449-4A48-BF26-F490-C7B8BE7D05A6}"/>
              </a:ext>
            </a:extLst>
          </p:cNvPr>
          <p:cNvSpPr txBox="1">
            <a:spLocks/>
          </p:cNvSpPr>
          <p:nvPr/>
        </p:nvSpPr>
        <p:spPr>
          <a:xfrm>
            <a:off x="0" y="877886"/>
            <a:ext cx="4134329" cy="1052514"/>
          </a:xfrm>
          <a:prstGeom prst="rect">
            <a:avLst/>
          </a:prstGeom>
          <a:solidFill>
            <a:schemeClr val="accent6">
              <a:lumMod val="40000"/>
              <a:lumOff val="60000"/>
              <a:alpha val="23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accent4">
                    <a:lumMod val="75000"/>
                  </a:schemeClr>
                </a:solidFill>
              </a:rPr>
              <a:t>	Measuring Emission</a:t>
            </a:r>
            <a:endParaRPr lang="en-SG" sz="2800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7961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D1FEF-EDB8-CD92-2DAD-884E80ED7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>
            <a:normAutofit/>
          </a:bodyPr>
          <a:lstStyle/>
          <a:p>
            <a:r>
              <a:rPr lang="en-SG" sz="3200" dirty="0">
                <a:solidFill>
                  <a:schemeClr val="accent4">
                    <a:lumMod val="75000"/>
                  </a:schemeClr>
                </a:solidFill>
              </a:rPr>
              <a:t>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EA9C9-C9B8-C7F9-8820-CE47337C0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14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058618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C3175-8045-F14F-D5E8-432049A1C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Comment from Previous Meetings: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C32E0-3247-E92F-1A44-0F2CFFCA7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096" y="1462067"/>
            <a:ext cx="11534661" cy="47789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b="1" dirty="0">
                <a:solidFill>
                  <a:schemeClr val="accent3"/>
                </a:solidFill>
              </a:rPr>
              <a:t>Reem </a:t>
            </a:r>
            <a:r>
              <a:rPr lang="en-SG" b="1" dirty="0" err="1">
                <a:solidFill>
                  <a:schemeClr val="accent3"/>
                </a:solidFill>
              </a:rPr>
              <a:t>san</a:t>
            </a:r>
            <a:r>
              <a:rPr lang="en-SG" dirty="0"/>
              <a:t>:</a:t>
            </a:r>
          </a:p>
          <a:p>
            <a:r>
              <a:rPr lang="en-SG" dirty="0"/>
              <a:t>Start reading papers/articles on relevant topics, to decide on the parameters you want to measure</a:t>
            </a:r>
          </a:p>
          <a:p>
            <a:r>
              <a:rPr lang="en-SG" dirty="0"/>
              <a:t>Scope of the research is too wide to be covered within the duration of a Master course</a:t>
            </a:r>
          </a:p>
          <a:p>
            <a:pPr marL="0" indent="0">
              <a:buNone/>
            </a:pPr>
            <a:endParaRPr lang="en-SG" b="1" dirty="0">
              <a:solidFill>
                <a:schemeClr val="accent3"/>
              </a:solidFill>
            </a:endParaRPr>
          </a:p>
          <a:p>
            <a:pPr marL="0" indent="0">
              <a:buNone/>
            </a:pPr>
            <a:r>
              <a:rPr lang="en-SG" b="1" dirty="0">
                <a:solidFill>
                  <a:schemeClr val="accent3"/>
                </a:solidFill>
              </a:rPr>
              <a:t>Azis </a:t>
            </a:r>
            <a:r>
              <a:rPr lang="en-SG" b="1" dirty="0" err="1">
                <a:solidFill>
                  <a:schemeClr val="accent3"/>
                </a:solidFill>
              </a:rPr>
              <a:t>san</a:t>
            </a:r>
            <a:r>
              <a:rPr lang="en-SG" b="1" dirty="0">
                <a:solidFill>
                  <a:schemeClr val="accent3"/>
                </a:solidFill>
              </a:rPr>
              <a:t>:</a:t>
            </a:r>
          </a:p>
          <a:p>
            <a:r>
              <a:rPr lang="en-SG" dirty="0"/>
              <a:t>Focus on Safety analysis part involving Traffic Conflict Technique (Surrogate Safety Measures).</a:t>
            </a:r>
          </a:p>
          <a:p>
            <a:r>
              <a:rPr lang="en-SG" dirty="0"/>
              <a:t>Start learning to work on the Simulation software (PTV-</a:t>
            </a:r>
            <a:r>
              <a:rPr lang="en-SG" dirty="0" err="1"/>
              <a:t>Vissim</a:t>
            </a:r>
            <a:r>
              <a:rPr lang="en-SG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3E167-F8A9-12BC-B0B4-8BBEA81A0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15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857684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1EC07-6980-1E49-FAE1-7F066DA6F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2400" dirty="0"/>
              <a:t>Papers on Traffic Flow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2A0C98A-B8B7-7F87-F3E3-78A817FE0D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6695758"/>
              </p:ext>
            </p:extLst>
          </p:nvPr>
        </p:nvGraphicFramePr>
        <p:xfrm>
          <a:off x="838200" y="1357667"/>
          <a:ext cx="10515600" cy="393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74829910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34095135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0291888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8702001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Method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9216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A real-time computer vision </a:t>
                      </a:r>
                      <a:r>
                        <a:rPr lang="en-SG" dirty="0" err="1"/>
                        <a:t>sysrem</a:t>
                      </a:r>
                      <a:r>
                        <a:rPr lang="en-SG" dirty="0"/>
                        <a:t> for vehicle tracking and traffic surveillance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Coifman et 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Traffic Count, Density,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Feature based tracking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9580697"/>
                  </a:ext>
                </a:extLst>
              </a:tr>
              <a:tr h="385370">
                <a:tc>
                  <a:txBody>
                    <a:bodyPr/>
                    <a:lstStyle/>
                    <a:p>
                      <a:r>
                        <a:rPr lang="en-US" dirty="0"/>
                        <a:t>Traffic flow estimation with data from a video surveillance camera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 err="1"/>
                        <a:t>Federov</a:t>
                      </a:r>
                      <a:r>
                        <a:rPr lang="en-SG" dirty="0"/>
                        <a:t> et 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Traffic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SSD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63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Vision-based vehicle detection and counting system using deep learning in highway scenes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 err="1"/>
                        <a:t>Huansheng</a:t>
                      </a:r>
                      <a:r>
                        <a:rPr lang="en-SG" dirty="0"/>
                        <a:t> et 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Traffic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YOLOv3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5260596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8912D8-CC13-839F-ACEB-F015B13C8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16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126877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95A2F-E161-31A8-13FC-EAEE16408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507BE-A545-1596-C272-D546B16A3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2400" dirty="0"/>
              <a:t>Papers on Traffic Safety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2D6EE18-5976-D7E4-2D03-A872AB82A6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2426107"/>
              </p:ext>
            </p:extLst>
          </p:nvPr>
        </p:nvGraphicFramePr>
        <p:xfrm>
          <a:off x="924262" y="1357201"/>
          <a:ext cx="10515600" cy="485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5164">
                  <a:extLst>
                    <a:ext uri="{9D8B030D-6E8A-4147-A177-3AD203B41FA5}">
                      <a16:colId xmlns:a16="http://schemas.microsoft.com/office/drawing/2014/main" val="2748299107"/>
                    </a:ext>
                  </a:extLst>
                </a:gridCol>
                <a:gridCol w="1834179">
                  <a:extLst>
                    <a:ext uri="{9D8B030D-6E8A-4147-A177-3AD203B41FA5}">
                      <a16:colId xmlns:a16="http://schemas.microsoft.com/office/drawing/2014/main" val="3340951359"/>
                    </a:ext>
                  </a:extLst>
                </a:gridCol>
                <a:gridCol w="2157357">
                  <a:extLst>
                    <a:ext uri="{9D8B030D-6E8A-4147-A177-3AD203B41FA5}">
                      <a16:colId xmlns:a16="http://schemas.microsoft.com/office/drawing/2014/main" val="420291888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8702001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Method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9216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 bivariate, non-stationary extreme value model for estimating opposing-through crash frequency by severity by applying artificial intelligence-based video analytics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Howlader et 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Gap time (GT),</a:t>
                      </a:r>
                      <a:br>
                        <a:rPr lang="en-SG" dirty="0"/>
                      </a:br>
                      <a:r>
                        <a:rPr lang="en-SG" dirty="0"/>
                        <a:t>TTC, PET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YOLOv3, Deep SORT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9580697"/>
                  </a:ext>
                </a:extLst>
              </a:tr>
              <a:tr h="385370">
                <a:tc>
                  <a:txBody>
                    <a:bodyPr/>
                    <a:lstStyle/>
                    <a:p>
                      <a:r>
                        <a:rPr lang="en-US" dirty="0"/>
                        <a:t>Spatial–Temporal Video Analysis For Advanced Traffic Conflict Detection And Risk Assessment Using Yolov8 And Attention-Enhanced Safety Metrics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Singh et 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TTC, PET, DRAC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YOLOv8, Deep SORT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63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An automated surrogate safety analysis at protected highway ramps using cross-sectional and before–after video data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Paul et 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TTC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Feature based, Traffic Intelligence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5260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03595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A3420E-4AA5-CDAB-6F0B-55B86CB62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17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43821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33993-1742-E37A-04F8-2E32B3B30D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SG" sz="4400" dirty="0"/>
          </a:p>
          <a:p>
            <a:pPr marL="0" indent="0" algn="ctr">
              <a:buNone/>
            </a:pPr>
            <a:endParaRPr lang="en-SG" sz="4400" dirty="0">
              <a:solidFill>
                <a:schemeClr val="accent4">
                  <a:lumMod val="75000"/>
                </a:schemeClr>
              </a:solidFill>
            </a:endParaRPr>
          </a:p>
          <a:p>
            <a:pPr marL="0" indent="0" algn="ctr">
              <a:buNone/>
            </a:pPr>
            <a:r>
              <a:rPr lang="en-SG" sz="4400" dirty="0">
                <a:solidFill>
                  <a:schemeClr val="accent4">
                    <a:lumMod val="75000"/>
                  </a:schemeClr>
                </a:solidFill>
              </a:rPr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A23966-5596-9D9C-CE12-0E36E6062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18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28008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</TotalTime>
  <Words>627</Words>
  <Application>Microsoft Office PowerPoint</Application>
  <PresentationFormat>Widescreen</PresentationFormat>
  <Paragraphs>106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Sustainable Urban Transport:  Optimising Traffic Flow, Safety and Carbon Emission  on an Urban Highway Corridor of Bangladesh</vt:lpstr>
      <vt:lpstr> Research objectives:</vt:lpstr>
      <vt:lpstr>PowerPoint Presentation</vt:lpstr>
      <vt:lpstr>PowerPoint Presentation</vt:lpstr>
      <vt:lpstr>PowerPoint Presentation</vt:lpstr>
      <vt:lpstr>PowerPoint Presentation</vt:lpstr>
      <vt:lpstr>Video of Highway</vt:lpstr>
      <vt:lpstr>PowerPoint Presentation</vt:lpstr>
      <vt:lpstr>PowerPoint Presentation</vt:lpstr>
      <vt:lpstr>PowerPoint Presentation</vt:lpstr>
      <vt:lpstr>PowerPoint Presentation</vt:lpstr>
      <vt:lpstr>Optimisation between scenarios</vt:lpstr>
      <vt:lpstr>Base Emission Factors by Vehicle Type</vt:lpstr>
      <vt:lpstr>Conclusion</vt:lpstr>
      <vt:lpstr>Comment from Previous Meetings:</vt:lpstr>
      <vt:lpstr>Papers on Traffic Flow</vt:lpstr>
      <vt:lpstr>Papers on Traffic Safety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HUSSEIN MD TANVEER</dc:creator>
  <cp:lastModifiedBy>Tanveer Rahat</cp:lastModifiedBy>
  <cp:revision>12</cp:revision>
  <dcterms:created xsi:type="dcterms:W3CDTF">2025-10-14T13:37:31Z</dcterms:created>
  <dcterms:modified xsi:type="dcterms:W3CDTF">2026-04-28T02:13:21Z</dcterms:modified>
</cp:coreProperties>
</file>