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30"/>
  </p:notesMasterIdLst>
  <p:sldIdLst>
    <p:sldId id="256" r:id="rId2"/>
    <p:sldId id="264" r:id="rId3"/>
    <p:sldId id="263" r:id="rId4"/>
    <p:sldId id="259" r:id="rId5"/>
    <p:sldId id="257" r:id="rId6"/>
    <p:sldId id="258" r:id="rId7"/>
    <p:sldId id="269" r:id="rId8"/>
    <p:sldId id="270" r:id="rId9"/>
    <p:sldId id="262" r:id="rId10"/>
    <p:sldId id="268" r:id="rId11"/>
    <p:sldId id="260" r:id="rId12"/>
    <p:sldId id="261" r:id="rId13"/>
    <p:sldId id="265" r:id="rId14"/>
    <p:sldId id="274" r:id="rId15"/>
    <p:sldId id="271" r:id="rId16"/>
    <p:sldId id="272" r:id="rId17"/>
    <p:sldId id="273" r:id="rId18"/>
    <p:sldId id="275" r:id="rId19"/>
    <p:sldId id="277" r:id="rId20"/>
    <p:sldId id="278" r:id="rId21"/>
    <p:sldId id="283" r:id="rId22"/>
    <p:sldId id="280" r:id="rId23"/>
    <p:sldId id="281" r:id="rId24"/>
    <p:sldId id="282" r:id="rId25"/>
    <p:sldId id="284" r:id="rId26"/>
    <p:sldId id="285" r:id="rId27"/>
    <p:sldId id="286" r:id="rId28"/>
    <p:sldId id="267" r:id="rId2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4F6D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9559" autoAdjust="0"/>
    <p:restoredTop sz="94660"/>
  </p:normalViewPr>
  <p:slideViewPr>
    <p:cSldViewPr snapToGrid="0">
      <p:cViewPr varScale="1">
        <p:scale>
          <a:sx n="69" d="100"/>
          <a:sy n="69" d="100"/>
        </p:scale>
        <p:origin x="51" y="26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5B5C589-8FA9-4131-8E3C-3881B8EDF1EB}" type="datetimeFigureOut">
              <a:rPr lang="en-SG" smtClean="0"/>
              <a:t>12/6/2026</a:t>
            </a:fld>
            <a:endParaRPr lang="en-SG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SG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84442AC-45B4-40E5-B363-896997AF1734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2050459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4442AC-45B4-40E5-B363-896997AF1734}" type="slidenum">
              <a:rPr lang="en-SG" smtClean="0"/>
              <a:t>1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1317653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77C2DB-FDBD-B2D8-0D9B-12A1C31A609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EB96A06-8C42-6E72-8E02-1A6A46B004D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DC921E-6723-B81C-231D-BCAF0D41E0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3CF615-70EF-4E95-9E76-20CC530FBC02}" type="datetime1">
              <a:rPr lang="en-SG" smtClean="0"/>
              <a:t>12/6/2026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637486-81B6-A65E-8DAA-57F615F7A8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CF632A-1110-9C50-D7DB-AFD4FC70B3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A9BC9-D8B1-4891-B6BA-9E7C0DED908A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3344192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C14C42-46FC-F979-9FB9-D905CC3A28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BB4DE9-362A-3B4E-06C1-B197C09B5E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A7318B-0E09-3356-36D2-26174AC097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05EF8-9EF8-45D4-B4AE-64A442CFC7C7}" type="datetime1">
              <a:rPr lang="en-SG" smtClean="0"/>
              <a:t>12/6/2026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40D0CA-1544-B5C7-F7B0-0694339E95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8D576D-0237-D192-845F-BE5094E04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A9BC9-D8B1-4891-B6BA-9E7C0DED908A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9831141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1E95C5-E4AE-3A9C-A801-D94E4B0BFF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B99DEA-ACF6-55FA-78AA-F3E14E1930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14D6CC-6352-7BB6-650B-858C3EC5C5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4E2BA-3704-45D5-83A5-237F51F44A65}" type="datetime1">
              <a:rPr lang="en-SG" smtClean="0"/>
              <a:t>12/6/2026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EB6DAD-C4E2-27EB-78CF-E9DDB52A8A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C3F371-A32E-749E-1E45-6B3B4053C5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A9BC9-D8B1-4891-B6BA-9E7C0DED908A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9527329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893EC4-3A74-E09C-1A33-71BF3AE1AE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744AE5-3E6E-5956-2B14-B6A2AF8A547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CCAD884-E60F-4F5E-1380-151A482B83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4E2CD8C-45F4-2995-AB86-5EF15056F3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41532B-0D08-471D-8EB7-7B81C9B0A249}" type="datetime1">
              <a:rPr lang="en-SG" smtClean="0"/>
              <a:t>12/6/2026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E4F48D-DA62-6365-2538-29721C18AB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5F7B21-3CB8-7899-E2C7-1CA8F1DB36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A9BC9-D8B1-4891-B6BA-9E7C0DED908A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7625904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9FF1FD-4D5B-3B0A-BC59-9BF510677A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4921DC-42B9-D4B4-2B64-7C610A6227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F5F977A-5590-CC2D-E057-2146BCC16D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A9BAF04-EA5B-8B20-1929-1E22360759E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9BC589A-D600-98D6-ABBA-9BF1B580F55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338F7DA-8D44-C40A-FB34-A3422C07FA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4B05EC-0668-4EA9-8B66-E353B9D84D6A}" type="datetime1">
              <a:rPr lang="en-SG" smtClean="0"/>
              <a:t>12/6/2026</a:t>
            </a:fld>
            <a:endParaRPr lang="en-SG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8AF1C0E-C105-005B-E4BE-61420CAE8F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44B36F3-84E0-F8B6-AC8C-1BB696BB2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A9BC9-D8B1-4891-B6BA-9E7C0DED908A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6893884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5A7F20-0638-AB60-DF97-DF28374023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279E3DC-0000-94A7-47BB-BBB7834A82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7D5780-0AF3-415F-924D-2792B3726668}" type="datetime1">
              <a:rPr lang="en-SG" smtClean="0"/>
              <a:t>12/6/2026</a:t>
            </a:fld>
            <a:endParaRPr lang="en-S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A1F409A-0CD4-946C-E114-946A157C3F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EE96AC-D5BA-8417-3BC9-D91B1DE6AA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A9BC9-D8B1-4891-B6BA-9E7C0DED908A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729690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E04078F-49DB-2679-7BF1-FD34A7D686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45950B-B665-48BD-9E62-6A88DC40C473}" type="datetime1">
              <a:rPr lang="en-SG" smtClean="0"/>
              <a:t>12/6/2026</a:t>
            </a:fld>
            <a:endParaRPr lang="en-SG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EFDD62C-C755-8015-CE2D-D9BD55A04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B098CD-A9A0-1C30-99B0-844E5DF2EE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A9BC9-D8B1-4891-B6BA-9E7C0DED908A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0147288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C27D35-BC9F-DAAD-CF46-BA4E3E2021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3EB2B8-1619-B72D-8CB7-5651C4B5C3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A106567-868E-033C-BEF0-CB3A882F8D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00894B-8FDA-252D-9D54-48422130A1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E4EBDC-204E-4381-926B-F4CF50AC52F3}" type="datetime1">
              <a:rPr lang="en-SG" smtClean="0"/>
              <a:t>12/6/2026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641DDB9-4999-E54E-9DC9-C652A06A15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BCF8C99-15AB-C811-A97B-78503079EF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A9BC9-D8B1-4891-B6BA-9E7C0DED908A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5849862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886990-F5C6-7951-DF74-27BD193BBF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5611E98-BF16-CAAE-43FA-85E095D2BC0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EDB4A4-CBEA-24E6-D6FD-826EC389F4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26CCF1-1F08-DF2B-4604-6B7840ABD0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E4F37C-EDE2-4802-82F9-1A7B8EB3D2EF}" type="datetime1">
              <a:rPr lang="en-SG" smtClean="0"/>
              <a:t>12/6/2026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DB02F19-8150-6726-5854-BD1D7B15D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5E0DC89-32E5-3070-0748-DAE8D7E87E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A9BC9-D8B1-4891-B6BA-9E7C0DED908A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6774009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51AD74-DEC2-4F65-E2EE-A89FF6578A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59673DD-3B73-CE36-1043-25A4BA61C8E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642AA2-8BCE-0ABC-08CA-F54B180D30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21B1BB-C852-4E9D-B5A6-F2DBC6F77CF0}" type="datetime1">
              <a:rPr lang="en-SG" smtClean="0"/>
              <a:t>12/6/2026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85B69B-64C9-A9D8-5A0D-5289B0C0BA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065A3C-72E1-EF5C-E2D5-E80C1F1721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A9BC9-D8B1-4891-B6BA-9E7C0DED908A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6170652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F816DAF-D9D9-F5F3-BD1A-271544F3B3F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68A8278-13C5-ED2C-5EB4-89E3067E841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0114A1-E26A-0B3B-3BE9-76FD057DE9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C94CFF-FB03-4F04-8898-8C5C050D1EDD}" type="datetime1">
              <a:rPr lang="en-SG" smtClean="0"/>
              <a:t>12/6/2026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06D48F-F070-6C3C-CF88-B928FA07D4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8E38CB-79F2-D5A6-2E40-08473F19A6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A9BC9-D8B1-4891-B6BA-9E7C0DED908A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626672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613B84D-8690-5F9D-ED32-E8BD46C2DE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5D7360-F4B5-AFD3-3297-3B746F19D2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BE59AA-056A-634F-DA1E-BB8F880229B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AEEDD5C-7341-4C24-AE3B-8C4B05626FA4}" type="datetime1">
              <a:rPr lang="en-SG" smtClean="0"/>
              <a:t>12/6/2026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B7C523-0B3F-18B0-9F0F-A4849E9C347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979270-DF98-C266-B5D5-E0F220AADD4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1AA9BC9-D8B1-4891-B6BA-9E7C0DED908A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4808582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youtube.com/clip/UgkxtnVWC6YLheHc0oQrMGhgCyQ5Mr6N0nkY?si=6asfN9C_-fxb4fp-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tmp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tmp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8F72B29D-1897-7B98-9541-2F9961017FAB}"/>
              </a:ext>
            </a:extLst>
          </p:cNvPr>
          <p:cNvSpPr/>
          <p:nvPr/>
        </p:nvSpPr>
        <p:spPr>
          <a:xfrm>
            <a:off x="-161925" y="1506057"/>
            <a:ext cx="12437788" cy="127443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  <a:effectLst>
            <a:softEdge rad="381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90BF173-8A9E-3738-2979-4FAE7ADE604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9962" y="1775580"/>
            <a:ext cx="11944350" cy="821470"/>
          </a:xfrm>
          <a:noFill/>
          <a:effectLst>
            <a:softEdge rad="101600"/>
          </a:effectLst>
        </p:spPr>
        <p:txBody>
          <a:bodyPr>
            <a:normAutofit fontScale="90000"/>
          </a:bodyPr>
          <a:lstStyle/>
          <a:p>
            <a:r>
              <a:rPr lang="en-GB" sz="2400" dirty="0"/>
              <a:t>Sustainable Urban Transport: </a:t>
            </a:r>
            <a:br>
              <a:rPr lang="en-GB" sz="2400" dirty="0"/>
            </a:br>
            <a:r>
              <a:rPr lang="en-GB" sz="2400" dirty="0"/>
              <a:t>Optimising </a:t>
            </a:r>
            <a:r>
              <a:rPr lang="en-GB" sz="2400" b="1" dirty="0">
                <a:solidFill>
                  <a:srgbClr val="7030A0"/>
                </a:solidFill>
              </a:rPr>
              <a:t>Traffic Flow, Safety and Carbon Emission </a:t>
            </a:r>
            <a:br>
              <a:rPr lang="en-GB" sz="2400" b="1" dirty="0"/>
            </a:br>
            <a:r>
              <a:rPr lang="en-GB" sz="2400" dirty="0"/>
              <a:t>on an Urban Highway Corridor of Bangladesh</a:t>
            </a:r>
            <a:endParaRPr lang="en-SG" sz="2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0AB04C4-3213-7391-3906-1EC696717D9D}"/>
              </a:ext>
            </a:extLst>
          </p:cNvPr>
          <p:cNvSpPr txBox="1"/>
          <p:nvPr/>
        </p:nvSpPr>
        <p:spPr>
          <a:xfrm>
            <a:off x="-83863" y="958205"/>
            <a:ext cx="12192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G" sz="2400" dirty="0">
                <a:solidFill>
                  <a:schemeClr val="accent6">
                    <a:lumMod val="75000"/>
                  </a:schemeClr>
                </a:solidFill>
              </a:rPr>
              <a:t>Research Title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30A7376-9D99-F360-B113-29065FC5BAFC}"/>
              </a:ext>
            </a:extLst>
          </p:cNvPr>
          <p:cNvSpPr txBox="1"/>
          <p:nvPr/>
        </p:nvSpPr>
        <p:spPr>
          <a:xfrm>
            <a:off x="0" y="3136200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G" spc="300" dirty="0">
                <a:solidFill>
                  <a:schemeClr val="accent6">
                    <a:lumMod val="50000"/>
                  </a:schemeClr>
                </a:solidFill>
              </a:rPr>
              <a:t>HUSSEIN MD TANVEER</a:t>
            </a:r>
          </a:p>
          <a:p>
            <a:pPr algn="ctr"/>
            <a:r>
              <a:rPr lang="en-SG" spc="300" dirty="0">
                <a:solidFill>
                  <a:schemeClr val="accent6">
                    <a:lumMod val="50000"/>
                  </a:schemeClr>
                </a:solidFill>
              </a:rPr>
              <a:t>M250436</a:t>
            </a:r>
          </a:p>
        </p:txBody>
      </p:sp>
      <p:pic>
        <p:nvPicPr>
          <p:cNvPr id="7" name="Picture 6" descr="A logo with leaves and text&#10;&#10;AI-generated content may be incorrect.">
            <a:extLst>
              <a:ext uri="{FF2B5EF4-FFF2-40B4-BE49-F238E27FC236}">
                <a16:creationId xmlns:a16="http://schemas.microsoft.com/office/drawing/2014/main" id="{3DECB541-40D7-654B-E544-F968F0E2ECF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3280" y="5588797"/>
            <a:ext cx="580895" cy="56927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497AD2A-C855-5A23-BFCB-5C3985A3AAE8}"/>
              </a:ext>
            </a:extLst>
          </p:cNvPr>
          <p:cNvSpPr txBox="1"/>
          <p:nvPr/>
        </p:nvSpPr>
        <p:spPr>
          <a:xfrm>
            <a:off x="0" y="6215779"/>
            <a:ext cx="12192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G" sz="2400" spc="300" dirty="0">
                <a:solidFill>
                  <a:schemeClr val="accent6">
                    <a:lumMod val="50000"/>
                  </a:schemeClr>
                </a:solidFill>
              </a:rPr>
              <a:t>HIROSHIMA </a:t>
            </a:r>
            <a:r>
              <a:rPr lang="en-SG" sz="2000" spc="300" dirty="0">
                <a:solidFill>
                  <a:schemeClr val="accent6">
                    <a:lumMod val="50000"/>
                  </a:schemeClr>
                </a:solidFill>
              </a:rPr>
              <a:t>UNIVERSITY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4836123-ACE0-1ABF-B272-3C03AF203C8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46474" y="4481608"/>
            <a:ext cx="2034506" cy="10172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91827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6D52C1-7278-BC51-0B3A-C7778234F4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877887"/>
            <a:ext cx="12192000" cy="644525"/>
          </a:xfrm>
          <a:solidFill>
            <a:schemeClr val="accent6">
              <a:lumMod val="40000"/>
              <a:lumOff val="60000"/>
              <a:alpha val="23000"/>
            </a:schemeClr>
          </a:solidFill>
        </p:spPr>
        <p:txBody>
          <a:bodyPr>
            <a:normAutofit/>
          </a:bodyPr>
          <a:lstStyle/>
          <a:p>
            <a:r>
              <a:rPr lang="en-SG" sz="2800" dirty="0">
                <a:solidFill>
                  <a:schemeClr val="accent4">
                    <a:lumMod val="75000"/>
                  </a:schemeClr>
                </a:solidFill>
              </a:rPr>
              <a:t>	Research objectives: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61D8F5-41B4-9AEE-3F8E-DAD9F348B9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 sz="2400" dirty="0"/>
              <a:t>To evaluate the performance regarding efficiency, safety and emission of the highway corridor.</a:t>
            </a:r>
            <a:endParaRPr lang="en-SG" sz="2400" dirty="0"/>
          </a:p>
          <a:p>
            <a:pPr lvl="0"/>
            <a:r>
              <a:rPr lang="en-GB" sz="2400" dirty="0"/>
              <a:t>To optimise the efficiency, safety and emission parameters.</a:t>
            </a:r>
            <a:endParaRPr lang="en-SG" sz="2400" dirty="0"/>
          </a:p>
          <a:p>
            <a:pPr marL="0" indent="0">
              <a:buNone/>
            </a:pPr>
            <a:endParaRPr lang="en-SG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CE5810-BBA5-D427-A2E7-CAFAC31908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A9BC9-D8B1-4891-B6BA-9E7C0DED908A}" type="slidenum">
              <a:rPr lang="en-SG" smtClean="0"/>
              <a:t>2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5692694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532DB4-4C03-5CED-3FF7-2A496ACD0F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en-SG" sz="24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What an urban highway should cater primarily?</a:t>
            </a:r>
          </a:p>
          <a:p>
            <a:pPr marL="0" indent="0">
              <a:buNone/>
            </a:pPr>
            <a:endParaRPr lang="en-SG" sz="2400" b="1" dirty="0">
              <a:solidFill>
                <a:schemeClr val="accent2"/>
              </a:solidFill>
            </a:endParaRPr>
          </a:p>
          <a:p>
            <a:pPr marL="0" indent="0" algn="ctr">
              <a:buNone/>
            </a:pPr>
            <a:r>
              <a:rPr lang="en-SG" sz="2400" dirty="0">
                <a:solidFill>
                  <a:schemeClr val="accent5">
                    <a:lumMod val="75000"/>
                  </a:schemeClr>
                </a:solidFill>
              </a:rPr>
              <a:t>Mobility for transit vehicles?</a:t>
            </a:r>
          </a:p>
          <a:p>
            <a:pPr marL="0" indent="0" algn="ctr">
              <a:buNone/>
            </a:pPr>
            <a:r>
              <a:rPr lang="en-SG" sz="2400" dirty="0"/>
              <a:t>or</a:t>
            </a:r>
          </a:p>
          <a:p>
            <a:pPr marL="0" indent="0" algn="ctr">
              <a:buNone/>
            </a:pPr>
            <a:r>
              <a:rPr lang="en-SG" sz="2400" dirty="0">
                <a:solidFill>
                  <a:schemeClr val="accent3">
                    <a:lumMod val="75000"/>
                  </a:schemeClr>
                </a:solidFill>
              </a:rPr>
              <a:t>Accessibility and mobility for urban commuters?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99352B-82D5-EE16-C20E-900FB087C7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A9BC9-D8B1-4891-B6BA-9E7C0DED908A}" type="slidenum">
              <a:rPr lang="en-SG" smtClean="0"/>
              <a:t>3</a:t>
            </a:fld>
            <a:endParaRPr lang="en-SG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A48394AA-4E67-F07F-8EF6-638036809C26}"/>
              </a:ext>
            </a:extLst>
          </p:cNvPr>
          <p:cNvSpPr txBox="1">
            <a:spLocks/>
          </p:cNvSpPr>
          <p:nvPr/>
        </p:nvSpPr>
        <p:spPr>
          <a:xfrm>
            <a:off x="0" y="877886"/>
            <a:ext cx="12192000" cy="644525"/>
          </a:xfrm>
          <a:prstGeom prst="rect">
            <a:avLst/>
          </a:prstGeom>
          <a:solidFill>
            <a:schemeClr val="accent6">
              <a:lumMod val="40000"/>
              <a:lumOff val="60000"/>
              <a:alpha val="23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SG" sz="3200" dirty="0">
                <a:solidFill>
                  <a:schemeClr val="accent4">
                    <a:lumMod val="75000"/>
                  </a:schemeClr>
                </a:solidFill>
              </a:rPr>
              <a:t>	</a:t>
            </a:r>
            <a:r>
              <a:rPr lang="en-SG" sz="2800" dirty="0">
                <a:solidFill>
                  <a:schemeClr val="accent4">
                    <a:lumMod val="75000"/>
                  </a:schemeClr>
                </a:solidFill>
              </a:rPr>
              <a:t>Research inspiration</a:t>
            </a:r>
          </a:p>
        </p:txBody>
      </p:sp>
    </p:spTree>
    <p:extLst>
      <p:ext uri="{BB962C8B-B14F-4D97-AF65-F5344CB8AC3E}">
        <p14:creationId xmlns:p14="http://schemas.microsoft.com/office/powerpoint/2010/main" val="41357321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07B180-480D-91CC-DB2B-39961A99AB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0550" y="1832763"/>
            <a:ext cx="10515600" cy="2574137"/>
          </a:xfrm>
        </p:spPr>
        <p:txBody>
          <a:bodyPr>
            <a:normAutofit/>
          </a:bodyPr>
          <a:lstStyle/>
          <a:p>
            <a:r>
              <a:rPr lang="en-SG" sz="2400" dirty="0"/>
              <a:t>In Bangladesh, most of the delays occur in the built up sections of any highway corridor.</a:t>
            </a:r>
          </a:p>
          <a:p>
            <a:r>
              <a:rPr lang="en-GB" sz="2400" dirty="0"/>
              <a:t>The need to traverse the corridor due to economic activities, augmented by the cultural behaviour of pedestrians and vehicle movement disrupt traffic flow</a:t>
            </a:r>
            <a:endParaRPr lang="en-SG" sz="24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DABD7C-B621-2F31-23D8-6AF4FBD36F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A9BC9-D8B1-4891-B6BA-9E7C0DED908A}" type="slidenum">
              <a:rPr lang="en-SG" smtClean="0"/>
              <a:t>4</a:t>
            </a:fld>
            <a:endParaRPr lang="en-SG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CC4C8A93-6FF0-AB1E-E4EE-9AFB9327BEC1}"/>
              </a:ext>
            </a:extLst>
          </p:cNvPr>
          <p:cNvSpPr txBox="1">
            <a:spLocks/>
          </p:cNvSpPr>
          <p:nvPr/>
        </p:nvSpPr>
        <p:spPr>
          <a:xfrm>
            <a:off x="0" y="877887"/>
            <a:ext cx="12192000" cy="644525"/>
          </a:xfrm>
          <a:prstGeom prst="rect">
            <a:avLst/>
          </a:prstGeom>
          <a:solidFill>
            <a:schemeClr val="accent6">
              <a:lumMod val="40000"/>
              <a:lumOff val="60000"/>
              <a:alpha val="23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SG" sz="3200" dirty="0">
                <a:solidFill>
                  <a:schemeClr val="accent4">
                    <a:lumMod val="75000"/>
                  </a:schemeClr>
                </a:solidFill>
              </a:rPr>
              <a:t>	</a:t>
            </a:r>
            <a:r>
              <a:rPr lang="en-SG" sz="2800" dirty="0">
                <a:solidFill>
                  <a:schemeClr val="accent4">
                    <a:lumMod val="75000"/>
                  </a:schemeClr>
                </a:solidFill>
              </a:rPr>
              <a:t>Why an Urban Highway Corridor?</a:t>
            </a:r>
          </a:p>
        </p:txBody>
      </p:sp>
    </p:spTree>
    <p:extLst>
      <p:ext uri="{BB962C8B-B14F-4D97-AF65-F5344CB8AC3E}">
        <p14:creationId xmlns:p14="http://schemas.microsoft.com/office/powerpoint/2010/main" val="34768875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map of a river&#10;&#10;AI-generated content may be incorrect.">
            <a:extLst>
              <a:ext uri="{FF2B5EF4-FFF2-40B4-BE49-F238E27FC236}">
                <a16:creationId xmlns:a16="http://schemas.microsoft.com/office/drawing/2014/main" id="{0FF88442-8354-D276-E1A9-25D07C80B3B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48717" y="211977"/>
            <a:ext cx="4708349" cy="6254092"/>
          </a:xfr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AD9E61-2B9B-F34F-B3BD-316C9726A6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A9BC9-D8B1-4891-B6BA-9E7C0DED908A}" type="slidenum">
              <a:rPr lang="en-SG" sz="1400" smtClean="0"/>
              <a:t>5</a:t>
            </a:fld>
            <a:endParaRPr lang="en-SG" sz="1400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80E74CD2-3D0B-12D2-6945-9BFC5D5D0BD8}"/>
              </a:ext>
            </a:extLst>
          </p:cNvPr>
          <p:cNvSpPr txBox="1">
            <a:spLocks/>
          </p:cNvSpPr>
          <p:nvPr/>
        </p:nvSpPr>
        <p:spPr>
          <a:xfrm>
            <a:off x="0" y="877886"/>
            <a:ext cx="5702300" cy="1052514"/>
          </a:xfrm>
          <a:prstGeom prst="rect">
            <a:avLst/>
          </a:prstGeom>
          <a:solidFill>
            <a:schemeClr val="accent6">
              <a:lumMod val="40000"/>
              <a:lumOff val="60000"/>
              <a:alpha val="23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SG" sz="3200" dirty="0">
                <a:solidFill>
                  <a:schemeClr val="accent4">
                    <a:lumMod val="75000"/>
                  </a:schemeClr>
                </a:solidFill>
              </a:rPr>
              <a:t>	Location of the proposed</a:t>
            </a:r>
          </a:p>
          <a:p>
            <a:r>
              <a:rPr lang="en-SG" sz="3200" dirty="0">
                <a:solidFill>
                  <a:schemeClr val="accent4">
                    <a:lumMod val="75000"/>
                  </a:schemeClr>
                </a:solidFill>
              </a:rPr>
              <a:t>	highway corridor </a:t>
            </a:r>
          </a:p>
        </p:txBody>
      </p:sp>
    </p:spTree>
    <p:extLst>
      <p:ext uri="{BB962C8B-B14F-4D97-AF65-F5344CB8AC3E}">
        <p14:creationId xmlns:p14="http://schemas.microsoft.com/office/powerpoint/2010/main" val="22715401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7CB1DA-7FC7-9F5B-4AD6-54CE321FAB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map of a country with blue and red lines&#10;&#10;AI-generated content may be incorrect.">
            <a:extLst>
              <a:ext uri="{FF2B5EF4-FFF2-40B4-BE49-F238E27FC236}">
                <a16:creationId xmlns:a16="http://schemas.microsoft.com/office/drawing/2014/main" id="{829B1EF4-3425-2663-4281-8F89F6D41041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48716" y="211976"/>
            <a:ext cx="4708349" cy="6254091"/>
          </a:xfrm>
          <a:prstGeom prst="rect">
            <a:avLst/>
          </a:prstGeom>
        </p:spPr>
      </p:pic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49946187-2C05-2152-0334-ACFB4260C8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A9BC9-D8B1-4891-B6BA-9E7C0DED908A}" type="slidenum">
              <a:rPr lang="en-SG" smtClean="0"/>
              <a:t>6</a:t>
            </a:fld>
            <a:endParaRPr lang="en-SG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27206C01-1571-E010-4C91-B7FD22878893}"/>
              </a:ext>
            </a:extLst>
          </p:cNvPr>
          <p:cNvSpPr txBox="1">
            <a:spLocks/>
          </p:cNvSpPr>
          <p:nvPr/>
        </p:nvSpPr>
        <p:spPr>
          <a:xfrm>
            <a:off x="0" y="877886"/>
            <a:ext cx="5702300" cy="1052514"/>
          </a:xfrm>
          <a:prstGeom prst="rect">
            <a:avLst/>
          </a:prstGeom>
          <a:solidFill>
            <a:schemeClr val="accent6">
              <a:lumMod val="40000"/>
              <a:lumOff val="60000"/>
              <a:alpha val="23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SG" sz="3200" dirty="0">
                <a:solidFill>
                  <a:schemeClr val="accent4">
                    <a:lumMod val="75000"/>
                  </a:schemeClr>
                </a:solidFill>
              </a:rPr>
              <a:t>	Location of the proposed</a:t>
            </a:r>
          </a:p>
          <a:p>
            <a:r>
              <a:rPr lang="en-SG" sz="3200" dirty="0">
                <a:solidFill>
                  <a:schemeClr val="accent4">
                    <a:lumMod val="75000"/>
                  </a:schemeClr>
                </a:solidFill>
              </a:rPr>
              <a:t>	highway corridor </a:t>
            </a:r>
          </a:p>
        </p:txBody>
      </p:sp>
    </p:spTree>
    <p:extLst>
      <p:ext uri="{BB962C8B-B14F-4D97-AF65-F5344CB8AC3E}">
        <p14:creationId xmlns:p14="http://schemas.microsoft.com/office/powerpoint/2010/main" val="379500653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37F4F1-7AD0-91CF-8340-E8DB868D43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24299" y="2839383"/>
            <a:ext cx="3881718" cy="646997"/>
          </a:xfrm>
        </p:spPr>
        <p:txBody>
          <a:bodyPr>
            <a:normAutofit fontScale="90000"/>
          </a:bodyPr>
          <a:lstStyle/>
          <a:p>
            <a:r>
              <a:rPr lang="en-SG" dirty="0">
                <a:hlinkClick r:id="rId2"/>
              </a:rPr>
              <a:t>Video of Highway</a:t>
            </a:r>
            <a:endParaRPr lang="en-SG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0075F5-F6CB-003A-1607-F642708CF8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A9BC9-D8B1-4891-B6BA-9E7C0DED908A}" type="slidenum">
              <a:rPr lang="en-SG" smtClean="0"/>
              <a:t>7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8410870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 descr="A road with cars and trucks on it&#10;&#10;AI-generated content may be incorrect.">
            <a:extLst>
              <a:ext uri="{FF2B5EF4-FFF2-40B4-BE49-F238E27FC236}">
                <a16:creationId xmlns:a16="http://schemas.microsoft.com/office/drawing/2014/main" id="{8509EA52-B174-F013-4B80-0284348CD19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160" y="474331"/>
            <a:ext cx="11751679" cy="5882019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08CF3F-BD3E-740C-C6CB-4A90244584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A9BC9-D8B1-4891-B6BA-9E7C0DED908A}" type="slidenum">
              <a:rPr lang="en-SG" smtClean="0"/>
              <a:t>8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1458569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road with cars and people on it&#10;&#10;AI-generated content may be incorrect.">
            <a:extLst>
              <a:ext uri="{FF2B5EF4-FFF2-40B4-BE49-F238E27FC236}">
                <a16:creationId xmlns:a16="http://schemas.microsoft.com/office/drawing/2014/main" id="{91078009-E13D-DB4E-79B7-1FB9B5EDAC1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58123" y="0"/>
            <a:ext cx="5433878" cy="6858000"/>
          </a:xfr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1E1E81-A96B-427A-F01C-5EC15C823B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A9BC9-D8B1-4891-B6BA-9E7C0DED908A}" type="slidenum">
              <a:rPr lang="en-SG" smtClean="0"/>
              <a:t>9</a:t>
            </a:fld>
            <a:endParaRPr lang="en-SG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964B1DFE-2214-E7B3-ABC4-A9103EEBC7AC}"/>
              </a:ext>
            </a:extLst>
          </p:cNvPr>
          <p:cNvSpPr txBox="1">
            <a:spLocks/>
          </p:cNvSpPr>
          <p:nvPr/>
        </p:nvSpPr>
        <p:spPr>
          <a:xfrm>
            <a:off x="0" y="877886"/>
            <a:ext cx="6394450" cy="1052514"/>
          </a:xfrm>
          <a:prstGeom prst="rect">
            <a:avLst/>
          </a:prstGeom>
          <a:solidFill>
            <a:schemeClr val="accent6">
              <a:lumMod val="40000"/>
              <a:lumOff val="60000"/>
              <a:alpha val="23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SG" sz="2800" dirty="0">
                <a:solidFill>
                  <a:schemeClr val="accent4">
                    <a:lumMod val="75000"/>
                  </a:schemeClr>
                </a:solidFill>
              </a:rPr>
              <a:t>Present condition</a:t>
            </a:r>
          </a:p>
        </p:txBody>
      </p:sp>
    </p:spTree>
    <p:extLst>
      <p:ext uri="{BB962C8B-B14F-4D97-AF65-F5344CB8AC3E}">
        <p14:creationId xmlns:p14="http://schemas.microsoft.com/office/powerpoint/2010/main" val="42098479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096101-84B6-224C-559A-19B7189938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79744A-2713-FA68-62A7-1E5ED8A293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A9BC9-D8B1-4891-B6BA-9E7C0DED908A}" type="slidenum">
              <a:rPr lang="en-SG" smtClean="0"/>
              <a:t>10</a:t>
            </a:fld>
            <a:endParaRPr lang="en-SG"/>
          </a:p>
        </p:txBody>
      </p:sp>
      <p:pic>
        <p:nvPicPr>
          <p:cNvPr id="3" name="Picture 2" descr="A road with cars and buildings in the background&#10;&#10;AI-generated content may be incorrect.">
            <a:extLst>
              <a:ext uri="{FF2B5EF4-FFF2-40B4-BE49-F238E27FC236}">
                <a16:creationId xmlns:a16="http://schemas.microsoft.com/office/drawing/2014/main" id="{994CBC90-F881-9E0B-6460-99524B5C00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" t="9352" r="343"/>
          <a:stretch>
            <a:fillRect/>
          </a:stretch>
        </p:blipFill>
        <p:spPr>
          <a:xfrm>
            <a:off x="0" y="641350"/>
            <a:ext cx="12192000" cy="6216650"/>
          </a:xfrm>
          <a:prstGeom prst="rect">
            <a:avLst/>
          </a:prstGeom>
          <a:solidFill>
            <a:srgbClr val="00B0F0"/>
          </a:solidFill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54355D4F-4B4B-3B15-4BEA-B49BC6B6443F}"/>
              </a:ext>
            </a:extLst>
          </p:cNvPr>
          <p:cNvSpPr txBox="1">
            <a:spLocks/>
          </p:cNvSpPr>
          <p:nvPr/>
        </p:nvSpPr>
        <p:spPr>
          <a:xfrm>
            <a:off x="-57149" y="-57455"/>
            <a:ext cx="12249150" cy="698805"/>
          </a:xfrm>
          <a:prstGeom prst="rect">
            <a:avLst/>
          </a:prstGeom>
          <a:solidFill>
            <a:srgbClr val="92D050">
              <a:alpha val="22000"/>
            </a:srgbClr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SG" spc="300" dirty="0">
                <a:solidFill>
                  <a:schemeClr val="accent5">
                    <a:lumMod val="75000"/>
                  </a:schemeClr>
                </a:solidFill>
              </a:rPr>
              <a:t>Present condition</a:t>
            </a:r>
          </a:p>
        </p:txBody>
      </p:sp>
    </p:spTree>
    <p:extLst>
      <p:ext uri="{BB962C8B-B14F-4D97-AF65-F5344CB8AC3E}">
        <p14:creationId xmlns:p14="http://schemas.microsoft.com/office/powerpoint/2010/main" val="35994435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3B9554-2208-3ADF-B16D-0C7EF59BAE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5825" y="1654174"/>
            <a:ext cx="6051550" cy="58181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SG" sz="24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Baseline data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79A565-244A-6403-6CD9-CB670F6DDD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A9BC9-D8B1-4891-B6BA-9E7C0DED908A}" type="slidenum">
              <a:rPr lang="en-SG" smtClean="0"/>
              <a:t>11</a:t>
            </a:fld>
            <a:endParaRPr lang="en-SG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A91B3B9E-9831-C34E-1D44-DBE81E712C59}"/>
              </a:ext>
            </a:extLst>
          </p:cNvPr>
          <p:cNvSpPr txBox="1">
            <a:spLocks/>
          </p:cNvSpPr>
          <p:nvPr/>
        </p:nvSpPr>
        <p:spPr>
          <a:xfrm>
            <a:off x="0" y="877887"/>
            <a:ext cx="12192000" cy="644525"/>
          </a:xfrm>
          <a:prstGeom prst="rect">
            <a:avLst/>
          </a:prstGeom>
          <a:solidFill>
            <a:schemeClr val="accent6">
              <a:lumMod val="40000"/>
              <a:lumOff val="60000"/>
              <a:alpha val="23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SG" sz="3200" dirty="0">
                <a:solidFill>
                  <a:schemeClr val="accent4">
                    <a:lumMod val="75000"/>
                  </a:schemeClr>
                </a:solidFill>
              </a:rPr>
              <a:t>	</a:t>
            </a:r>
            <a:r>
              <a:rPr lang="en-SG" sz="2800" dirty="0">
                <a:solidFill>
                  <a:schemeClr val="accent4">
                    <a:lumMod val="75000"/>
                  </a:schemeClr>
                </a:solidFill>
              </a:rPr>
              <a:t>What to measure?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695FEB23-E536-DBE0-EC63-A84A33B7D522}"/>
              </a:ext>
            </a:extLst>
          </p:cNvPr>
          <p:cNvGrpSpPr/>
          <p:nvPr/>
        </p:nvGrpSpPr>
        <p:grpSpPr>
          <a:xfrm>
            <a:off x="8331200" y="2083775"/>
            <a:ext cx="2819400" cy="870020"/>
            <a:chOff x="8953500" y="2062976"/>
            <a:chExt cx="2819400" cy="870020"/>
          </a:xfrm>
        </p:grpSpPr>
        <p:sp>
          <p:nvSpPr>
            <p:cNvPr id="16" name="Rectangle: Rounded Corners 15">
              <a:extLst>
                <a:ext uri="{FF2B5EF4-FFF2-40B4-BE49-F238E27FC236}">
                  <a16:creationId xmlns:a16="http://schemas.microsoft.com/office/drawing/2014/main" id="{3DBE5CEB-5424-391D-AB4D-B2C3106D65CD}"/>
                </a:ext>
              </a:extLst>
            </p:cNvPr>
            <p:cNvSpPr/>
            <p:nvPr/>
          </p:nvSpPr>
          <p:spPr>
            <a:xfrm>
              <a:off x="8953500" y="2062976"/>
              <a:ext cx="2819400" cy="870020"/>
            </a:xfrm>
            <a:prstGeom prst="roundRect">
              <a:avLst/>
            </a:prstGeom>
            <a:solidFill>
              <a:schemeClr val="accent6">
                <a:lumMod val="20000"/>
                <a:lumOff val="80000"/>
                <a:alpha val="70000"/>
              </a:schemeClr>
            </a:solidFill>
            <a:ln>
              <a:noFill/>
            </a:ln>
            <a:effectLst>
              <a:softEdge rad="5080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0C38E618-10FB-DD70-3656-C15974DCC7EB}"/>
                </a:ext>
              </a:extLst>
            </p:cNvPr>
            <p:cNvSpPr txBox="1"/>
            <p:nvPr/>
          </p:nvSpPr>
          <p:spPr>
            <a:xfrm>
              <a:off x="9093200" y="2173540"/>
              <a:ext cx="238760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SG" dirty="0"/>
                <a:t>From real time data by video surveillance</a:t>
              </a: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0F92B7AB-7170-731D-77D7-2754B17305DD}"/>
              </a:ext>
            </a:extLst>
          </p:cNvPr>
          <p:cNvGrpSpPr/>
          <p:nvPr/>
        </p:nvGrpSpPr>
        <p:grpSpPr>
          <a:xfrm>
            <a:off x="8331200" y="3298031"/>
            <a:ext cx="2784476" cy="789403"/>
            <a:chOff x="8988424" y="3221514"/>
            <a:chExt cx="2784476" cy="789403"/>
          </a:xfrm>
        </p:grpSpPr>
        <p:sp>
          <p:nvSpPr>
            <p:cNvPr id="18" name="Rectangle: Rounded Corners 17">
              <a:extLst>
                <a:ext uri="{FF2B5EF4-FFF2-40B4-BE49-F238E27FC236}">
                  <a16:creationId xmlns:a16="http://schemas.microsoft.com/office/drawing/2014/main" id="{55DE7EC9-998B-DC85-BBB5-105857F8262C}"/>
                </a:ext>
              </a:extLst>
            </p:cNvPr>
            <p:cNvSpPr/>
            <p:nvPr/>
          </p:nvSpPr>
          <p:spPr>
            <a:xfrm>
              <a:off x="8988424" y="3221514"/>
              <a:ext cx="2784476" cy="789403"/>
            </a:xfrm>
            <a:prstGeom prst="roundRect">
              <a:avLst/>
            </a:prstGeom>
            <a:solidFill>
              <a:srgbClr val="E4F6DE"/>
            </a:solidFill>
            <a:ln>
              <a:noFill/>
            </a:ln>
            <a:effectLst>
              <a:softEdge rad="5080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A8782B8A-426D-42D0-8859-41F10EC2D484}"/>
                </a:ext>
              </a:extLst>
            </p:cNvPr>
            <p:cNvSpPr txBox="1"/>
            <p:nvPr/>
          </p:nvSpPr>
          <p:spPr>
            <a:xfrm>
              <a:off x="9039224" y="3293049"/>
              <a:ext cx="2441576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/>
                <a:t>By applying surrogate safety measures</a:t>
              </a:r>
              <a:endParaRPr lang="en-SG" dirty="0"/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1A8B01E5-1F00-DB8D-32DC-EE5470B5EB0B}"/>
              </a:ext>
            </a:extLst>
          </p:cNvPr>
          <p:cNvGrpSpPr/>
          <p:nvPr/>
        </p:nvGrpSpPr>
        <p:grpSpPr>
          <a:xfrm>
            <a:off x="8382000" y="4913659"/>
            <a:ext cx="2784476" cy="789403"/>
            <a:chOff x="8966200" y="4489026"/>
            <a:chExt cx="2784476" cy="789403"/>
          </a:xfrm>
        </p:grpSpPr>
        <p:sp>
          <p:nvSpPr>
            <p:cNvPr id="19" name="Rectangle: Rounded Corners 18">
              <a:extLst>
                <a:ext uri="{FF2B5EF4-FFF2-40B4-BE49-F238E27FC236}">
                  <a16:creationId xmlns:a16="http://schemas.microsoft.com/office/drawing/2014/main" id="{62313E59-449D-DDF8-7E3B-79EB7CED30D1}"/>
                </a:ext>
              </a:extLst>
            </p:cNvPr>
            <p:cNvSpPr/>
            <p:nvPr/>
          </p:nvSpPr>
          <p:spPr>
            <a:xfrm>
              <a:off x="8966200" y="4489026"/>
              <a:ext cx="2784476" cy="789403"/>
            </a:xfrm>
            <a:prstGeom prst="roundRect">
              <a:avLst/>
            </a:prstGeom>
            <a:solidFill>
              <a:srgbClr val="E4F6DE"/>
            </a:solidFill>
            <a:ln>
              <a:noFill/>
            </a:ln>
            <a:effectLst>
              <a:softEdge rad="5080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 dirty="0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786FA81D-92A5-5206-8F72-88A1A63E3858}"/>
                </a:ext>
              </a:extLst>
            </p:cNvPr>
            <p:cNvSpPr txBox="1"/>
            <p:nvPr/>
          </p:nvSpPr>
          <p:spPr>
            <a:xfrm>
              <a:off x="9093200" y="4518973"/>
              <a:ext cx="227330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From vehicle speed and emission rate</a:t>
              </a:r>
              <a:endParaRPr lang="en-SG" dirty="0"/>
            </a:p>
          </p:txBody>
        </p:sp>
      </p:grp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202BC3FA-8067-38E5-7112-26E642048CFD}"/>
              </a:ext>
            </a:extLst>
          </p:cNvPr>
          <p:cNvSpPr txBox="1">
            <a:spLocks/>
          </p:cNvSpPr>
          <p:nvPr/>
        </p:nvSpPr>
        <p:spPr>
          <a:xfrm>
            <a:off x="885825" y="3298031"/>
            <a:ext cx="7143750" cy="12827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SG" sz="2400" dirty="0">
                <a:solidFill>
                  <a:schemeClr val="accent5">
                    <a:lumMod val="75000"/>
                  </a:schemeClr>
                </a:solidFill>
              </a:rPr>
              <a:t>Traffic Safety</a:t>
            </a:r>
            <a:r>
              <a:rPr lang="en-SG" sz="2400" dirty="0"/>
              <a:t>: </a:t>
            </a:r>
            <a:r>
              <a:rPr lang="en-GB" sz="2400" dirty="0"/>
              <a:t>time to collision (TTC), modified time to collision (MTTC), and headway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D95B408D-3FF6-EC63-2EC5-75D3F8D76E95}"/>
              </a:ext>
            </a:extLst>
          </p:cNvPr>
          <p:cNvSpPr txBox="1">
            <a:spLocks/>
          </p:cNvSpPr>
          <p:nvPr/>
        </p:nvSpPr>
        <p:spPr>
          <a:xfrm>
            <a:off x="885825" y="5054689"/>
            <a:ext cx="7143750" cy="9254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GB" sz="2400" dirty="0">
                <a:solidFill>
                  <a:schemeClr val="accent5">
                    <a:lumMod val="75000"/>
                  </a:schemeClr>
                </a:solidFill>
              </a:rPr>
              <a:t>Emission: </a:t>
            </a:r>
            <a:r>
              <a:rPr lang="en-GB" sz="2400" dirty="0"/>
              <a:t>GHG emission/ fuel consumption</a:t>
            </a:r>
            <a:endParaRPr lang="en-SG" sz="2400" dirty="0"/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6AECC956-964E-6DE3-4A70-381D280D96FD}"/>
              </a:ext>
            </a:extLst>
          </p:cNvPr>
          <p:cNvSpPr txBox="1">
            <a:spLocks/>
          </p:cNvSpPr>
          <p:nvPr/>
        </p:nvSpPr>
        <p:spPr>
          <a:xfrm>
            <a:off x="885825" y="2326480"/>
            <a:ext cx="5988050" cy="6445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SG" sz="2400" dirty="0">
                <a:solidFill>
                  <a:schemeClr val="accent5">
                    <a:lumMod val="75000"/>
                  </a:schemeClr>
                </a:solidFill>
              </a:rPr>
              <a:t>Traffic flow: </a:t>
            </a:r>
            <a:r>
              <a:rPr lang="en-SG" sz="2400" dirty="0"/>
              <a:t>Delay, Level of Service </a:t>
            </a:r>
          </a:p>
        </p:txBody>
      </p:sp>
    </p:spTree>
    <p:extLst>
      <p:ext uri="{BB962C8B-B14F-4D97-AF65-F5344CB8AC3E}">
        <p14:creationId xmlns:p14="http://schemas.microsoft.com/office/powerpoint/2010/main" val="26346530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823615-961D-BADE-AF79-7BDA354781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SG" sz="2800" dirty="0">
                <a:solidFill>
                  <a:schemeClr val="accent4">
                    <a:lumMod val="75000"/>
                  </a:schemeClr>
                </a:solidFill>
              </a:rPr>
              <a:t>Optimisation between scenarios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EDCB88-B796-AD62-046B-0E38804B27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2200" dirty="0"/>
              <a:t>After selecting a suitable section representing the corridor</a:t>
            </a:r>
            <a:r>
              <a:rPr lang="en-GB" sz="2200" b="1" dirty="0"/>
              <a:t>, </a:t>
            </a:r>
            <a:r>
              <a:rPr lang="en-GB" sz="2200" b="1" dirty="0">
                <a:solidFill>
                  <a:schemeClr val="accent5">
                    <a:lumMod val="75000"/>
                  </a:schemeClr>
                </a:solidFill>
              </a:rPr>
              <a:t>a simulation model will be developed with VISSIM software</a:t>
            </a:r>
            <a:r>
              <a:rPr lang="en-GB" sz="2200" dirty="0"/>
              <a:t>. After the model is validated, another model will be created by introducing an </a:t>
            </a:r>
            <a:r>
              <a:rPr lang="en-GB" sz="2200" b="1" dirty="0">
                <a:solidFill>
                  <a:schemeClr val="accent5">
                    <a:lumMod val="75000"/>
                  </a:schemeClr>
                </a:solidFill>
              </a:rPr>
              <a:t>HOV lane instead of the BRT lane</a:t>
            </a:r>
          </a:p>
          <a:p>
            <a:pPr marL="0" indent="0">
              <a:buNone/>
            </a:pPr>
            <a:endParaRPr lang="en-GB" sz="2200" b="1" dirty="0">
              <a:solidFill>
                <a:schemeClr val="accent5">
                  <a:lumMod val="75000"/>
                </a:schemeClr>
              </a:solidFill>
            </a:endParaRPr>
          </a:p>
          <a:p>
            <a:r>
              <a:rPr lang="en-GB" sz="2200" dirty="0"/>
              <a:t>Finally, this research will optimise the </a:t>
            </a:r>
            <a:r>
              <a:rPr lang="en-GB" sz="2200" b="1" dirty="0">
                <a:solidFill>
                  <a:schemeClr val="accent5">
                    <a:lumMod val="75000"/>
                  </a:schemeClr>
                </a:solidFill>
              </a:rPr>
              <a:t>efficiency, safety and emission </a:t>
            </a:r>
            <a:r>
              <a:rPr lang="en-GB" sz="2200" dirty="0"/>
              <a:t>parameters to drive a sustainable shift towards a </a:t>
            </a:r>
            <a:r>
              <a:rPr lang="en-GB" sz="2200" b="1" dirty="0">
                <a:solidFill>
                  <a:srgbClr val="0070C0"/>
                </a:solidFill>
              </a:rPr>
              <a:t>smart city</a:t>
            </a:r>
            <a:r>
              <a:rPr lang="en-GB" sz="2200" dirty="0"/>
              <a:t>.</a:t>
            </a:r>
          </a:p>
          <a:p>
            <a:pPr marL="0" indent="0">
              <a:buNone/>
            </a:pPr>
            <a:endParaRPr lang="en-SG" sz="2200" dirty="0"/>
          </a:p>
          <a:p>
            <a:r>
              <a:rPr lang="en-GB" sz="2200" dirty="0"/>
              <a:t>For forecasting purposes, the model will be analysed for different scenarios representing different geometric configurations and time intervals. A multi-criteria decision analysis, such as Genetic Algorithm </a:t>
            </a:r>
            <a:r>
              <a:rPr lang="en-GB" sz="2200" b="1" dirty="0">
                <a:solidFill>
                  <a:schemeClr val="accent5">
                    <a:lumMod val="75000"/>
                  </a:schemeClr>
                </a:solidFill>
              </a:rPr>
              <a:t>(GA) </a:t>
            </a:r>
            <a:r>
              <a:rPr lang="en-GB" sz="2200" dirty="0"/>
              <a:t>or Non-dominated sorting genetic algorithm II </a:t>
            </a:r>
            <a:r>
              <a:rPr lang="en-GB" sz="2200" b="1" dirty="0">
                <a:solidFill>
                  <a:schemeClr val="accent5">
                    <a:lumMod val="75000"/>
                  </a:schemeClr>
                </a:solidFill>
              </a:rPr>
              <a:t>(NSGA-II) </a:t>
            </a:r>
            <a:r>
              <a:rPr lang="en-GB" sz="2200" dirty="0"/>
              <a:t>, may be applied to optimise efficiency, safety, and emissions.</a:t>
            </a:r>
            <a:endParaRPr lang="en-SG" sz="2200" dirty="0"/>
          </a:p>
          <a:p>
            <a:pPr marL="0" indent="0">
              <a:buNone/>
            </a:pPr>
            <a:endParaRPr lang="en-SG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1FEBD9-DEF3-C10F-5420-9E648D1C4A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A9BC9-D8B1-4891-B6BA-9E7C0DED908A}" type="slidenum">
              <a:rPr lang="en-SG" smtClean="0"/>
              <a:t>12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3094817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2E41A2-7AAE-0450-CB0B-37FC88B797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15" y="5798298"/>
            <a:ext cx="5308120" cy="567907"/>
          </a:xfrm>
        </p:spPr>
        <p:txBody>
          <a:bodyPr>
            <a:normAutofit/>
          </a:bodyPr>
          <a:lstStyle/>
          <a:p>
            <a:r>
              <a:rPr lang="en-US" sz="2400" b="1" dirty="0"/>
              <a:t>Base Emission Factors by Vehicle Type</a:t>
            </a:r>
            <a:endParaRPr lang="en-SG" sz="2400" b="1" dirty="0"/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9EBE2A8-F3C5-0333-FD81-951621082C1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472" t="26637" r="21054" b="26201"/>
          <a:stretch>
            <a:fillRect/>
          </a:stretch>
        </p:blipFill>
        <p:spPr>
          <a:xfrm>
            <a:off x="5032667" y="444260"/>
            <a:ext cx="6728013" cy="5486400"/>
          </a:xfr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3C9D201C-3E94-7143-CC10-4AED15688B14}"/>
              </a:ext>
            </a:extLst>
          </p:cNvPr>
          <p:cNvSpPr txBox="1">
            <a:spLocks/>
          </p:cNvSpPr>
          <p:nvPr/>
        </p:nvSpPr>
        <p:spPr>
          <a:xfrm>
            <a:off x="8196892" y="6456751"/>
            <a:ext cx="5308120" cy="56790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600" i="1" dirty="0"/>
              <a:t>Source: Bangladesh Highway Masterplan 2041</a:t>
            </a:r>
            <a:endParaRPr lang="en-SG" sz="1600" i="1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6027F8EE-00AA-C062-5966-5EFB5ABAB9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A9BC9-D8B1-4891-B6BA-9E7C0DED908A}" type="slidenum">
              <a:rPr lang="en-SG" smtClean="0"/>
              <a:t>13</a:t>
            </a:fld>
            <a:endParaRPr lang="en-SG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56E78F5-0250-3045-33C1-2C7BD31DE349}"/>
              </a:ext>
            </a:extLst>
          </p:cNvPr>
          <p:cNvGrpSpPr/>
          <p:nvPr/>
        </p:nvGrpSpPr>
        <p:grpSpPr>
          <a:xfrm>
            <a:off x="540229" y="2351868"/>
            <a:ext cx="3282471" cy="1883581"/>
            <a:chOff x="806929" y="2586818"/>
            <a:chExt cx="3282471" cy="1883581"/>
          </a:xfrm>
        </p:grpSpPr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06D45E1D-6A54-B1FC-4880-E723CA8C5678}"/>
                </a:ext>
              </a:extLst>
            </p:cNvPr>
            <p:cNvSpPr/>
            <p:nvPr/>
          </p:nvSpPr>
          <p:spPr>
            <a:xfrm>
              <a:off x="806929" y="2586818"/>
              <a:ext cx="3282471" cy="1883581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  <a:alpha val="40000"/>
              </a:schemeClr>
            </a:solidFill>
            <a:ln>
              <a:noFill/>
            </a:ln>
            <a:effectLst>
              <a:softEdge rad="5080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D13DF47C-7419-2C14-27FE-CBD01D2DED05}"/>
                </a:ext>
              </a:extLst>
            </p:cNvPr>
            <p:cNvSpPr txBox="1"/>
            <p:nvPr/>
          </p:nvSpPr>
          <p:spPr>
            <a:xfrm>
              <a:off x="989761" y="2741136"/>
              <a:ext cx="2909139" cy="14773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The relationship between vehicle speed and emission rate, as measured by the </a:t>
              </a:r>
              <a:r>
                <a:rPr lang="en-US" b="1" dirty="0"/>
                <a:t>Public Works Research Institute of Japan (PWRI</a:t>
              </a:r>
              <a:r>
                <a:rPr lang="en-US" dirty="0"/>
                <a:t>)</a:t>
              </a:r>
              <a:endParaRPr lang="en-SG" dirty="0"/>
            </a:p>
          </p:txBody>
        </p:sp>
      </p:grpSp>
      <p:sp>
        <p:nvSpPr>
          <p:cNvPr id="11" name="Title 1">
            <a:extLst>
              <a:ext uri="{FF2B5EF4-FFF2-40B4-BE49-F238E27FC236}">
                <a16:creationId xmlns:a16="http://schemas.microsoft.com/office/drawing/2014/main" id="{EFEA1449-4A48-BF26-F490-C7B8BE7D05A6}"/>
              </a:ext>
            </a:extLst>
          </p:cNvPr>
          <p:cNvSpPr txBox="1">
            <a:spLocks/>
          </p:cNvSpPr>
          <p:nvPr/>
        </p:nvSpPr>
        <p:spPr>
          <a:xfrm>
            <a:off x="0" y="877886"/>
            <a:ext cx="4134329" cy="1052514"/>
          </a:xfrm>
          <a:prstGeom prst="rect">
            <a:avLst/>
          </a:prstGeom>
          <a:solidFill>
            <a:schemeClr val="accent6">
              <a:lumMod val="40000"/>
              <a:lumOff val="60000"/>
              <a:alpha val="23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dirty="0">
                <a:solidFill>
                  <a:schemeClr val="accent4">
                    <a:lumMod val="75000"/>
                  </a:schemeClr>
                </a:solidFill>
              </a:rPr>
              <a:t>	Measuring Emission</a:t>
            </a:r>
            <a:endParaRPr lang="en-SG" sz="2800" dirty="0">
              <a:solidFill>
                <a:schemeClr val="accent4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2796102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Rectangle: Rounded Corners 53">
            <a:extLst>
              <a:ext uri="{FF2B5EF4-FFF2-40B4-BE49-F238E27FC236}">
                <a16:creationId xmlns:a16="http://schemas.microsoft.com/office/drawing/2014/main" id="{84AFF80C-2613-C1C5-76C2-3C5F08898330}"/>
              </a:ext>
            </a:extLst>
          </p:cNvPr>
          <p:cNvSpPr/>
          <p:nvPr/>
        </p:nvSpPr>
        <p:spPr>
          <a:xfrm>
            <a:off x="-276225" y="4421124"/>
            <a:ext cx="12934133" cy="1485900"/>
          </a:xfrm>
          <a:prstGeom prst="roundRect">
            <a:avLst/>
          </a:prstGeom>
          <a:solidFill>
            <a:schemeClr val="accent6">
              <a:lumMod val="40000"/>
              <a:lumOff val="60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55" name="Rectangle: Rounded Corners 54">
            <a:extLst>
              <a:ext uri="{FF2B5EF4-FFF2-40B4-BE49-F238E27FC236}">
                <a16:creationId xmlns:a16="http://schemas.microsoft.com/office/drawing/2014/main" id="{CCC901E5-FF5F-C91A-E6FD-8DE7C826A5CF}"/>
              </a:ext>
            </a:extLst>
          </p:cNvPr>
          <p:cNvSpPr/>
          <p:nvPr/>
        </p:nvSpPr>
        <p:spPr>
          <a:xfrm>
            <a:off x="-206454" y="2537460"/>
            <a:ext cx="12522279" cy="1485900"/>
          </a:xfrm>
          <a:prstGeom prst="roundRect">
            <a:avLst/>
          </a:prstGeom>
          <a:solidFill>
            <a:schemeClr val="accent2">
              <a:lumMod val="40000"/>
              <a:lumOff val="60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15BED889-4E2C-D321-88DD-FCFA690ABA0C}"/>
              </a:ext>
            </a:extLst>
          </p:cNvPr>
          <p:cNvSpPr/>
          <p:nvPr/>
        </p:nvSpPr>
        <p:spPr>
          <a:xfrm>
            <a:off x="-276224" y="774954"/>
            <a:ext cx="13282790" cy="1485900"/>
          </a:xfrm>
          <a:prstGeom prst="roundRect">
            <a:avLst/>
          </a:prstGeom>
          <a:solidFill>
            <a:schemeClr val="accent1">
              <a:lumMod val="20000"/>
              <a:lumOff val="80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999" cy="71323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95086" y="177022"/>
            <a:ext cx="2510303" cy="3693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400" dirty="0">
                <a:solidFill>
                  <a:schemeClr val="accent6">
                    <a:lumMod val="50000"/>
                  </a:schemeClr>
                </a:solidFill>
              </a:rPr>
              <a:t>Methodology Flow: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7472" y="960120"/>
            <a:ext cx="1600200" cy="914400"/>
          </a:xfrm>
          <a:prstGeom prst="roundRect">
            <a:avLst/>
          </a:prstGeom>
          <a:noFill/>
          <a:ln w="25400">
            <a:solidFill>
              <a:srgbClr val="2461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20624" y="1060704"/>
            <a:ext cx="1453896" cy="768096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algn="ctr"/>
            <a:r>
              <a:rPr sz="1200" b="1">
                <a:solidFill>
                  <a:srgbClr val="2461A0"/>
                </a:solidFill>
              </a:rPr>
              <a:t>1. Define Study</a:t>
            </a:r>
          </a:p>
          <a:p>
            <a:pPr algn="ctr">
              <a:spcBef>
                <a:spcPts val="200"/>
              </a:spcBef>
            </a:pPr>
            <a:r>
              <a:rPr sz="869">
                <a:solidFill>
                  <a:srgbClr val="2D3038"/>
                </a:solidFill>
              </a:rPr>
              <a:t>Urban highway corridor
&amp; representative section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240280" y="960120"/>
            <a:ext cx="1783080" cy="914400"/>
          </a:xfrm>
          <a:prstGeom prst="roundRect">
            <a:avLst/>
          </a:prstGeom>
          <a:noFill/>
          <a:ln w="25400">
            <a:solidFill>
              <a:srgbClr val="2461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313432" y="1060704"/>
            <a:ext cx="1636776" cy="768096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algn="ctr"/>
            <a:r>
              <a:rPr sz="1200" b="1" dirty="0">
                <a:solidFill>
                  <a:srgbClr val="248B84"/>
                </a:solidFill>
              </a:rPr>
              <a:t>2. Data Inputs</a:t>
            </a:r>
          </a:p>
          <a:p>
            <a:pPr algn="ctr">
              <a:spcBef>
                <a:spcPts val="200"/>
              </a:spcBef>
            </a:pPr>
            <a:r>
              <a:rPr sz="869" dirty="0">
                <a:solidFill>
                  <a:srgbClr val="2D3038"/>
                </a:solidFill>
              </a:rPr>
              <a:t>Video surveillance +
RHD/BRT/BBS/survey data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15968" y="960120"/>
            <a:ext cx="1783080" cy="914400"/>
          </a:xfrm>
          <a:prstGeom prst="roundRect">
            <a:avLst/>
          </a:prstGeom>
          <a:noFill/>
          <a:ln w="25400">
            <a:solidFill>
              <a:srgbClr val="2461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373959" y="1030987"/>
            <a:ext cx="1636776" cy="768096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algn="ctr"/>
            <a:r>
              <a:rPr sz="1200" b="1" dirty="0">
                <a:solidFill>
                  <a:srgbClr val="248B84"/>
                </a:solidFill>
              </a:rPr>
              <a:t>3. Video Analytics</a:t>
            </a:r>
          </a:p>
          <a:p>
            <a:pPr algn="ctr">
              <a:spcBef>
                <a:spcPts val="200"/>
              </a:spcBef>
            </a:pPr>
            <a:r>
              <a:rPr sz="869" dirty="0">
                <a:solidFill>
                  <a:srgbClr val="2D3038"/>
                </a:solidFill>
              </a:rPr>
              <a:t>Vehicle detection, tracking
&amp; trajectory extraction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868680"/>
            <a:ext cx="5394960" cy="1234440"/>
          </a:xfrm>
          <a:prstGeom prst="roundRect">
            <a:avLst/>
          </a:prstGeom>
          <a:noFill/>
          <a:ln w="25400">
            <a:solidFill>
              <a:srgbClr val="2461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510528" y="950976"/>
            <a:ext cx="5175504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200" b="1">
                <a:solidFill>
                  <a:srgbClr val="61519B"/>
                </a:solidFill>
              </a:rPr>
              <a:t>4. Measure Performance Indicators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65392" y="1289304"/>
            <a:ext cx="1508760" cy="530352"/>
          </a:xfrm>
          <a:prstGeom prst="roundRect">
            <a:avLst/>
          </a:prstGeom>
          <a:noFill/>
          <a:ln w="17780">
            <a:solidFill>
              <a:srgbClr val="2461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864" tIns="0" rIns="54864" bIns="0" rtlCol="0" anchor="ctr"/>
          <a:lstStyle/>
          <a:p>
            <a:pPr algn="ctr"/>
            <a:r>
              <a:rPr sz="850" b="1">
                <a:solidFill>
                  <a:srgbClr val="2461A0"/>
                </a:solidFill>
              </a:rPr>
              <a:t>Traffic Flow
Count · Speed · Density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11312" y="1289304"/>
            <a:ext cx="1691640" cy="530352"/>
          </a:xfrm>
          <a:prstGeom prst="roundRect">
            <a:avLst/>
          </a:prstGeom>
          <a:noFill/>
          <a:ln w="17780">
            <a:solidFill>
              <a:srgbClr val="BC44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864" tIns="0" rIns="54864" bIns="0" rtlCol="0" anchor="ctr"/>
          <a:lstStyle/>
          <a:p>
            <a:pPr algn="ctr"/>
            <a:r>
              <a:rPr sz="850" b="1" dirty="0">
                <a:solidFill>
                  <a:srgbClr val="BC443A"/>
                </a:solidFill>
              </a:rPr>
              <a:t>Traffic Safety
TTC · MTTC · PET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040112" y="1289304"/>
            <a:ext cx="1508760" cy="530352"/>
          </a:xfrm>
          <a:prstGeom prst="roundRect">
            <a:avLst/>
          </a:prstGeom>
          <a:noFill/>
          <a:ln w="17780">
            <a:solidFill>
              <a:srgbClr val="3E8E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864" tIns="0" rIns="54864" bIns="0" rtlCol="0" anchor="ctr"/>
          <a:lstStyle/>
          <a:p>
            <a:pPr algn="ctr"/>
            <a:r>
              <a:rPr sz="850" b="1" dirty="0">
                <a:solidFill>
                  <a:srgbClr val="3E8E53"/>
                </a:solidFill>
              </a:rPr>
              <a:t>Emission
GHG emission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1947672" y="1417320"/>
            <a:ext cx="292608" cy="0"/>
          </a:xfrm>
          <a:prstGeom prst="line">
            <a:avLst/>
          </a:prstGeom>
          <a:ln w="22860">
            <a:solidFill>
              <a:srgbClr val="5A63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4023360" y="1417320"/>
            <a:ext cx="292608" cy="0"/>
          </a:xfrm>
          <a:prstGeom prst="line">
            <a:avLst/>
          </a:prstGeom>
          <a:ln w="22860">
            <a:solidFill>
              <a:srgbClr val="5A63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6099048" y="1417320"/>
            <a:ext cx="301752" cy="0"/>
          </a:xfrm>
          <a:prstGeom prst="line">
            <a:avLst/>
          </a:prstGeom>
          <a:ln w="22860">
            <a:solidFill>
              <a:srgbClr val="5A63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914400" y="2788920"/>
            <a:ext cx="1965960" cy="960120"/>
          </a:xfrm>
          <a:prstGeom prst="roundRect">
            <a:avLst/>
          </a:prstGeom>
          <a:noFill/>
          <a:ln w="25400">
            <a:solidFill>
              <a:srgbClr val="D674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87552" y="2889503"/>
            <a:ext cx="1819656" cy="813816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algn="ctr"/>
            <a:r>
              <a:rPr sz="1100" b="1">
                <a:solidFill>
                  <a:srgbClr val="2461A0"/>
                </a:solidFill>
              </a:rPr>
              <a:t>5. Build Baseline
Microsimulation</a:t>
            </a:r>
          </a:p>
          <a:p>
            <a:pPr algn="ctr">
              <a:spcBef>
                <a:spcPts val="200"/>
              </a:spcBef>
            </a:pPr>
            <a:r>
              <a:rPr sz="869">
                <a:solidFill>
                  <a:srgbClr val="2D3038"/>
                </a:solidFill>
              </a:rPr>
              <a:t>Develop VISSIM model for
the selected highway section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520440" y="2788920"/>
            <a:ext cx="2148840" cy="960120"/>
          </a:xfrm>
          <a:prstGeom prst="roundRect">
            <a:avLst/>
          </a:prstGeom>
          <a:noFill/>
          <a:ln w="25400">
            <a:solidFill>
              <a:srgbClr val="D674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593592" y="2889503"/>
            <a:ext cx="2002536" cy="813816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algn="ctr"/>
            <a:r>
              <a:rPr sz="1200" b="1">
                <a:solidFill>
                  <a:srgbClr val="248B84"/>
                </a:solidFill>
              </a:rPr>
              <a:t>6. Calibrate &amp; Validate</a:t>
            </a:r>
          </a:p>
          <a:p>
            <a:pPr algn="ctr">
              <a:spcBef>
                <a:spcPts val="200"/>
              </a:spcBef>
            </a:pPr>
            <a:r>
              <a:rPr sz="869">
                <a:solidFill>
                  <a:srgbClr val="2D3038"/>
                </a:solidFill>
              </a:rPr>
              <a:t>Match simulated outputs with
video-derived field measures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355080" y="2788920"/>
            <a:ext cx="2148840" cy="960120"/>
          </a:xfrm>
          <a:prstGeom prst="roundRect">
            <a:avLst/>
          </a:prstGeom>
          <a:noFill/>
          <a:ln w="25400">
            <a:solidFill>
              <a:srgbClr val="D674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428232" y="2889503"/>
            <a:ext cx="2002536" cy="813816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algn="ctr"/>
            <a:r>
              <a:rPr sz="1200" b="1">
                <a:solidFill>
                  <a:srgbClr val="D67426"/>
                </a:solidFill>
              </a:rPr>
              <a:t>7. Scenario Design</a:t>
            </a:r>
          </a:p>
          <a:p>
            <a:pPr algn="ctr">
              <a:spcBef>
                <a:spcPts val="200"/>
              </a:spcBef>
            </a:pPr>
            <a:r>
              <a:rPr sz="869">
                <a:solidFill>
                  <a:srgbClr val="2D3038"/>
                </a:solidFill>
              </a:rPr>
              <a:t>Replace BRT lane with
High Occupancy Vehicle lane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162288" y="2788920"/>
            <a:ext cx="1965960" cy="960120"/>
          </a:xfrm>
          <a:prstGeom prst="roundRect">
            <a:avLst/>
          </a:prstGeom>
          <a:noFill/>
          <a:ln w="25400">
            <a:solidFill>
              <a:srgbClr val="D674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235440" y="2889503"/>
            <a:ext cx="1819656" cy="813816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algn="ctr"/>
            <a:r>
              <a:rPr sz="1200" b="1">
                <a:solidFill>
                  <a:srgbClr val="61519B"/>
                </a:solidFill>
              </a:rPr>
              <a:t>8. Scenario Analysis</a:t>
            </a:r>
          </a:p>
          <a:p>
            <a:pPr algn="ctr">
              <a:spcBef>
                <a:spcPts val="200"/>
              </a:spcBef>
            </a:pPr>
            <a:r>
              <a:rPr sz="869">
                <a:solidFill>
                  <a:srgbClr val="2D3038"/>
                </a:solidFill>
              </a:rPr>
              <a:t>Compare geometric layouts
&amp; time intervals</a:t>
            </a:r>
          </a:p>
        </p:txBody>
      </p:sp>
      <p:cxnSp>
        <p:nvCxnSpPr>
          <p:cNvPr id="34" name="Connector 33"/>
          <p:cNvCxnSpPr/>
          <p:nvPr/>
        </p:nvCxnSpPr>
        <p:spPr>
          <a:xfrm flipH="1">
            <a:off x="1901952" y="2103120"/>
            <a:ext cx="7196328" cy="685800"/>
          </a:xfrm>
          <a:prstGeom prst="line">
            <a:avLst/>
          </a:prstGeom>
          <a:ln w="17780">
            <a:solidFill>
              <a:srgbClr val="78808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2880360" y="3273552"/>
            <a:ext cx="640080" cy="0"/>
          </a:xfrm>
          <a:prstGeom prst="line">
            <a:avLst/>
          </a:prstGeom>
          <a:ln w="22860">
            <a:solidFill>
              <a:srgbClr val="5A63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5669280" y="3273552"/>
            <a:ext cx="685800" cy="0"/>
          </a:xfrm>
          <a:prstGeom prst="line">
            <a:avLst/>
          </a:prstGeom>
          <a:ln w="22860">
            <a:solidFill>
              <a:srgbClr val="5A63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8503920" y="3273552"/>
            <a:ext cx="658368" cy="0"/>
          </a:xfrm>
          <a:prstGeom prst="line">
            <a:avLst/>
          </a:prstGeom>
          <a:ln w="22860">
            <a:solidFill>
              <a:srgbClr val="5A63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1874519" y="4736592"/>
            <a:ext cx="2286000" cy="914400"/>
          </a:xfrm>
          <a:prstGeom prst="roundRect">
            <a:avLst/>
          </a:prstGeom>
          <a:noFill/>
          <a:ln w="25400">
            <a:solidFill>
              <a:srgbClr val="3E8E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1947672" y="4837176"/>
            <a:ext cx="2139696" cy="768096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algn="ctr"/>
            <a:r>
              <a:rPr sz="1100" b="1" dirty="0">
                <a:solidFill>
                  <a:srgbClr val="3E8E53"/>
                </a:solidFill>
              </a:rPr>
              <a:t>9. Multi-objective
</a:t>
            </a:r>
            <a:r>
              <a:rPr sz="1100" b="1" dirty="0" err="1">
                <a:solidFill>
                  <a:srgbClr val="3E8E53"/>
                </a:solidFill>
              </a:rPr>
              <a:t>Optimisation</a:t>
            </a:r>
            <a:endParaRPr sz="1100" b="1" dirty="0">
              <a:solidFill>
                <a:srgbClr val="3E8E53"/>
              </a:solidFill>
            </a:endParaRPr>
          </a:p>
          <a:p>
            <a:pPr algn="ctr">
              <a:spcBef>
                <a:spcPts val="200"/>
              </a:spcBef>
            </a:pPr>
            <a:r>
              <a:rPr sz="869" dirty="0">
                <a:solidFill>
                  <a:srgbClr val="2D3038"/>
                </a:solidFill>
              </a:rPr>
              <a:t>GA / NSGA-II for efficiency,
safety and emissions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828032" y="4736592"/>
            <a:ext cx="2240280" cy="914400"/>
          </a:xfrm>
          <a:prstGeom prst="roundRect">
            <a:avLst/>
          </a:prstGeom>
          <a:noFill/>
          <a:ln w="25400">
            <a:solidFill>
              <a:srgbClr val="3E8E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4901184" y="4837176"/>
            <a:ext cx="2093976" cy="768096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algn="ctr"/>
            <a:r>
              <a:rPr sz="1100" b="1" dirty="0">
                <a:solidFill>
                  <a:srgbClr val="3E8E53"/>
                </a:solidFill>
              </a:rPr>
              <a:t>10. Select </a:t>
            </a:r>
            <a:r>
              <a:rPr sz="1100" b="1" dirty="0" err="1">
                <a:solidFill>
                  <a:srgbClr val="3E8E53"/>
                </a:solidFill>
              </a:rPr>
              <a:t>Optimised</a:t>
            </a:r>
            <a:r>
              <a:rPr sz="1100" b="1" dirty="0">
                <a:solidFill>
                  <a:srgbClr val="3E8E53"/>
                </a:solidFill>
              </a:rPr>
              <a:t>
Solution</a:t>
            </a:r>
          </a:p>
          <a:p>
            <a:pPr algn="ctr">
              <a:spcBef>
                <a:spcPts val="200"/>
              </a:spcBef>
            </a:pPr>
            <a:r>
              <a:rPr sz="869" dirty="0">
                <a:solidFill>
                  <a:srgbClr val="2D3038"/>
                </a:solidFill>
              </a:rPr>
              <a:t>Identify best lane configuration
&amp; operational strategy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699248" y="4736592"/>
            <a:ext cx="2514600" cy="914400"/>
          </a:xfrm>
          <a:prstGeom prst="roundRect">
            <a:avLst/>
          </a:prstGeom>
          <a:noFill/>
          <a:ln w="25400">
            <a:solidFill>
              <a:srgbClr val="3E8E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7772400" y="4837176"/>
            <a:ext cx="2368296" cy="768096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algn="ctr"/>
            <a:r>
              <a:rPr sz="1100" b="1" dirty="0">
                <a:solidFill>
                  <a:srgbClr val="3E8E53"/>
                </a:solidFill>
              </a:rPr>
              <a:t>11. Research Output</a:t>
            </a:r>
          </a:p>
          <a:p>
            <a:pPr algn="ctr">
              <a:spcBef>
                <a:spcPts val="200"/>
              </a:spcBef>
            </a:pPr>
            <a:r>
              <a:rPr sz="869" dirty="0" err="1">
                <a:solidFill>
                  <a:srgbClr val="2D3038"/>
                </a:solidFill>
              </a:rPr>
              <a:t>Optimised</a:t>
            </a:r>
            <a:r>
              <a:rPr sz="869" dirty="0">
                <a:solidFill>
                  <a:srgbClr val="2D3038"/>
                </a:solidFill>
              </a:rPr>
              <a:t> corridor performance
for sustainable urban mobility</a:t>
            </a:r>
          </a:p>
        </p:txBody>
      </p:sp>
      <p:cxnSp>
        <p:nvCxnSpPr>
          <p:cNvPr id="47" name="Connector 46"/>
          <p:cNvCxnSpPr/>
          <p:nvPr/>
        </p:nvCxnSpPr>
        <p:spPr>
          <a:xfrm flipH="1">
            <a:off x="3017520" y="3749039"/>
            <a:ext cx="7132320" cy="987553"/>
          </a:xfrm>
          <a:prstGeom prst="line">
            <a:avLst/>
          </a:prstGeom>
          <a:ln w="17780">
            <a:solidFill>
              <a:srgbClr val="78808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4160520" y="5193792"/>
            <a:ext cx="667512" cy="0"/>
          </a:xfrm>
          <a:prstGeom prst="line">
            <a:avLst/>
          </a:prstGeom>
          <a:ln w="22860">
            <a:solidFill>
              <a:srgbClr val="5A63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7068312" y="5193792"/>
            <a:ext cx="630936" cy="0"/>
          </a:xfrm>
          <a:prstGeom prst="line">
            <a:avLst/>
          </a:prstGeom>
          <a:ln w="22860">
            <a:solidFill>
              <a:srgbClr val="5A63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H="1">
            <a:off x="1901952" y="3749039"/>
            <a:ext cx="2688336" cy="0"/>
          </a:xfrm>
          <a:prstGeom prst="bentConnector3">
            <a:avLst/>
          </a:prstGeom>
          <a:ln w="16510">
            <a:solidFill>
              <a:srgbClr val="78808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2514600" y="3822191"/>
            <a:ext cx="192024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800" i="1">
                <a:solidFill>
                  <a:srgbClr val="646973"/>
                </a:solidFill>
              </a:rPr>
              <a:t>iterate until validation acceptable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347472" y="6199632"/>
            <a:ext cx="11475720" cy="384048"/>
          </a:xfrm>
          <a:prstGeom prst="roundRect">
            <a:avLst/>
          </a:prstGeom>
          <a:solidFill>
            <a:srgbClr val="EB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0" rIns="109728" bIns="0" rtlCol="0" anchor="ctr"/>
          <a:lstStyle/>
          <a:p>
            <a:pPr algn="ctr"/>
            <a:r>
              <a:rPr sz="1000" b="1" dirty="0">
                <a:solidFill>
                  <a:srgbClr val="1F3556"/>
                </a:solidFill>
              </a:rPr>
              <a:t>Decision criteria: </a:t>
            </a:r>
            <a:r>
              <a:rPr sz="1000" b="1" dirty="0" err="1">
                <a:solidFill>
                  <a:srgbClr val="1F3556"/>
                </a:solidFill>
              </a:rPr>
              <a:t>minimise</a:t>
            </a:r>
            <a:r>
              <a:rPr sz="1000" b="1" dirty="0">
                <a:solidFill>
                  <a:srgbClr val="1F3556"/>
                </a:solidFill>
              </a:rPr>
              <a:t> delay/congestion, reduce traffic conflicts, and lower GHG emissions while improving corridor efficiency.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47472" y="6611112"/>
            <a:ext cx="11475720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650">
                <a:solidFill>
                  <a:srgbClr val="6E747E"/>
                </a:solidFill>
              </a:rPr>
              <a:t>Prepared from research plan: Optimising Traffic Flow, Safety and Carbon Emission on an Urban Highway Corridor of Bangladesh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AC3175-8045-F14F-D5E8-432049A1C3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SG" sz="2000" dirty="0">
                <a:latin typeface="Segoe"/>
                <a:ea typeface="+mn-ea"/>
                <a:cs typeface="+mn-cs"/>
              </a:rPr>
              <a:t>Comments from Previous Meetings: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BC32E0-3247-E92F-1A44-0F2CFFCA7E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4671" y="1759924"/>
            <a:ext cx="10971079" cy="394555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SG" sz="2000" dirty="0">
                <a:solidFill>
                  <a:schemeClr val="accent3"/>
                </a:solidFill>
                <a:latin typeface="Segoe"/>
              </a:rPr>
              <a:t>Reem </a:t>
            </a:r>
            <a:r>
              <a:rPr lang="en-SG" sz="2000" dirty="0" err="1">
                <a:solidFill>
                  <a:schemeClr val="accent3"/>
                </a:solidFill>
                <a:latin typeface="Segoe"/>
              </a:rPr>
              <a:t>san</a:t>
            </a:r>
            <a:r>
              <a:rPr lang="en-SG" sz="2000" dirty="0">
                <a:latin typeface="Segoe"/>
              </a:rPr>
              <a:t>:</a:t>
            </a:r>
          </a:p>
          <a:p>
            <a:r>
              <a:rPr lang="en-SG" sz="2000" dirty="0">
                <a:latin typeface="Segoe"/>
              </a:rPr>
              <a:t>Start reading papers/articles on relevant topics, to decide on the parameters you want to </a:t>
            </a:r>
            <a:r>
              <a:rPr lang="en-SG" sz="2000" dirty="0">
                <a:latin typeface="Segoe"/>
                <a:ea typeface="Lato" panose="020F0502020204030203" pitchFamily="34" charset="0"/>
                <a:cs typeface="Lato" panose="020F0502020204030203" pitchFamily="34" charset="0"/>
              </a:rPr>
              <a:t>measure</a:t>
            </a:r>
          </a:p>
          <a:p>
            <a:r>
              <a:rPr lang="en-SG" sz="2000" dirty="0">
                <a:latin typeface="Segoe"/>
              </a:rPr>
              <a:t>Scope of the research is too wide to be covered within the duration of a Master course</a:t>
            </a:r>
          </a:p>
          <a:p>
            <a:pPr marL="0" indent="0">
              <a:buNone/>
            </a:pPr>
            <a:endParaRPr lang="en-SG" sz="2000" b="1" dirty="0">
              <a:solidFill>
                <a:schemeClr val="accent3"/>
              </a:solidFill>
              <a:latin typeface="Segoe"/>
            </a:endParaRPr>
          </a:p>
          <a:p>
            <a:pPr marL="0" indent="0">
              <a:buNone/>
            </a:pPr>
            <a:r>
              <a:rPr lang="en-SG" sz="2000" dirty="0">
                <a:solidFill>
                  <a:schemeClr val="accent3"/>
                </a:solidFill>
                <a:latin typeface="Segoe"/>
              </a:rPr>
              <a:t>Azis </a:t>
            </a:r>
            <a:r>
              <a:rPr lang="en-SG" sz="2000" dirty="0" err="1">
                <a:solidFill>
                  <a:schemeClr val="accent3"/>
                </a:solidFill>
                <a:latin typeface="Segoe"/>
              </a:rPr>
              <a:t>san</a:t>
            </a:r>
            <a:r>
              <a:rPr lang="en-SG" sz="2000" dirty="0">
                <a:solidFill>
                  <a:schemeClr val="accent3"/>
                </a:solidFill>
                <a:latin typeface="Segoe"/>
              </a:rPr>
              <a:t>:</a:t>
            </a:r>
          </a:p>
          <a:p>
            <a:r>
              <a:rPr lang="en-SG" sz="2000" dirty="0">
                <a:latin typeface="Segoe"/>
              </a:rPr>
              <a:t>Focus on Safety analysis part involving Traffic Conflict Technique (Surrogate Safety Measures).</a:t>
            </a:r>
          </a:p>
          <a:p>
            <a:r>
              <a:rPr lang="en-SG" sz="2000" dirty="0">
                <a:latin typeface="Segoe"/>
              </a:rPr>
              <a:t>Start learning to work on the Simulation software (PTV-</a:t>
            </a:r>
            <a:r>
              <a:rPr lang="en-SG" sz="2000" dirty="0" err="1">
                <a:latin typeface="Segoe"/>
              </a:rPr>
              <a:t>Vissim</a:t>
            </a:r>
            <a:r>
              <a:rPr lang="en-SG" sz="2000" dirty="0">
                <a:latin typeface="Segoe"/>
              </a:rPr>
              <a:t>).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E3E167-F8A9-12BC-B0B4-8BBEA81A05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A9BC9-D8B1-4891-B6BA-9E7C0DED908A}" type="slidenum">
              <a:rPr lang="en-SG" smtClean="0"/>
              <a:t>15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78576849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11EC07-6980-1E49-FAE1-7F066DA6FA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SG" sz="2400" dirty="0"/>
              <a:t>Papers on </a:t>
            </a:r>
            <a:r>
              <a:rPr lang="en-SG" sz="2400" dirty="0">
                <a:latin typeface="Segoe"/>
              </a:rPr>
              <a:t>Traffic</a:t>
            </a:r>
            <a:r>
              <a:rPr lang="en-SG" sz="2400" dirty="0"/>
              <a:t> Flow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C2A0C98A-B8B7-7F87-F3E3-78A817FE0D5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48847164"/>
              </p:ext>
            </p:extLst>
          </p:nvPr>
        </p:nvGraphicFramePr>
        <p:xfrm>
          <a:off x="438150" y="1529117"/>
          <a:ext cx="11401425" cy="2291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91125">
                  <a:extLst>
                    <a:ext uri="{9D8B030D-6E8A-4147-A177-3AD203B41FA5}">
                      <a16:colId xmlns:a16="http://schemas.microsoft.com/office/drawing/2014/main" val="2748299107"/>
                    </a:ext>
                  </a:extLst>
                </a:gridCol>
                <a:gridCol w="2190750">
                  <a:extLst>
                    <a:ext uri="{9D8B030D-6E8A-4147-A177-3AD203B41FA5}">
                      <a16:colId xmlns:a16="http://schemas.microsoft.com/office/drawing/2014/main" val="3340951359"/>
                    </a:ext>
                  </a:extLst>
                </a:gridCol>
                <a:gridCol w="2238375">
                  <a:extLst>
                    <a:ext uri="{9D8B030D-6E8A-4147-A177-3AD203B41FA5}">
                      <a16:colId xmlns:a16="http://schemas.microsoft.com/office/drawing/2014/main" val="4202918889"/>
                    </a:ext>
                  </a:extLst>
                </a:gridCol>
                <a:gridCol w="1781175">
                  <a:extLst>
                    <a:ext uri="{9D8B030D-6E8A-4147-A177-3AD203B41FA5}">
                      <a16:colId xmlns:a16="http://schemas.microsoft.com/office/drawing/2014/main" val="287020012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SG" dirty="0">
                          <a:latin typeface="Segoe"/>
                        </a:rPr>
                        <a:t>Title</a:t>
                      </a:r>
                    </a:p>
                  </a:txBody>
                  <a:tcPr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SG" dirty="0">
                          <a:latin typeface="Segoe"/>
                        </a:rPr>
                        <a:t>Author</a:t>
                      </a:r>
                    </a:p>
                  </a:txBody>
                  <a:tcPr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SG" dirty="0">
                          <a:latin typeface="Segoe"/>
                        </a:rPr>
                        <a:t>Parameters</a:t>
                      </a:r>
                    </a:p>
                  </a:txBody>
                  <a:tcPr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SG" dirty="0">
                          <a:latin typeface="Segoe"/>
                        </a:rPr>
                        <a:t>Method</a:t>
                      </a:r>
                    </a:p>
                  </a:txBody>
                  <a:tcPr>
                    <a:solidFill>
                      <a:schemeClr val="accent4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92168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SG" dirty="0">
                          <a:latin typeface="Segoe"/>
                        </a:rPr>
                        <a:t>A real-time computer vision </a:t>
                      </a:r>
                      <a:r>
                        <a:rPr lang="en-SG" dirty="0" err="1">
                          <a:latin typeface="Segoe"/>
                        </a:rPr>
                        <a:t>sysrem</a:t>
                      </a:r>
                      <a:r>
                        <a:rPr lang="en-SG" dirty="0">
                          <a:latin typeface="Segoe"/>
                        </a:rPr>
                        <a:t> for vehicle tracking and traffic surveillance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 dirty="0">
                          <a:latin typeface="Segoe"/>
                        </a:rPr>
                        <a:t>Coifman et 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 dirty="0">
                          <a:latin typeface="Segoe"/>
                        </a:rPr>
                        <a:t>Traffic Count, Density, Speed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 dirty="0">
                          <a:latin typeface="Segoe"/>
                        </a:rPr>
                        <a:t>Feature based tracking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49580697"/>
                  </a:ext>
                </a:extLst>
              </a:tr>
              <a:tr h="385370">
                <a:tc>
                  <a:txBody>
                    <a:bodyPr/>
                    <a:lstStyle/>
                    <a:p>
                      <a:r>
                        <a:rPr lang="en-US" dirty="0">
                          <a:latin typeface="Segoe"/>
                        </a:rPr>
                        <a:t>Traffic flow estimation with data from a video surveillance camera</a:t>
                      </a:r>
                      <a:endParaRPr lang="en-SG" dirty="0">
                        <a:latin typeface="Segoe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 dirty="0" err="1">
                          <a:latin typeface="Segoe"/>
                        </a:rPr>
                        <a:t>Federov</a:t>
                      </a:r>
                      <a:r>
                        <a:rPr lang="en-SG" dirty="0">
                          <a:latin typeface="Segoe"/>
                        </a:rPr>
                        <a:t> et 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 dirty="0">
                          <a:latin typeface="Segoe"/>
                        </a:rPr>
                        <a:t>Traffic Count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 dirty="0">
                          <a:latin typeface="Segoe"/>
                        </a:rPr>
                        <a:t>SSD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4637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Segoe"/>
                        </a:rPr>
                        <a:t>Vision-based vehicle detection and counting system using deep learning in highway scenes</a:t>
                      </a:r>
                      <a:endParaRPr lang="en-SG" dirty="0">
                        <a:latin typeface="Segoe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 dirty="0" err="1">
                          <a:latin typeface="Segoe"/>
                        </a:rPr>
                        <a:t>Huansheng</a:t>
                      </a:r>
                      <a:r>
                        <a:rPr lang="en-SG" dirty="0">
                          <a:latin typeface="Segoe"/>
                        </a:rPr>
                        <a:t> et 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 dirty="0">
                          <a:latin typeface="Segoe"/>
                        </a:rPr>
                        <a:t>Traffic Count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 dirty="0">
                          <a:latin typeface="Segoe"/>
                        </a:rPr>
                        <a:t>YOLOv3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75260596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8912D8-CC13-839F-ACEB-F015B13C8A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A9BC9-D8B1-4891-B6BA-9E7C0DED908A}" type="slidenum">
              <a:rPr lang="en-SG" smtClean="0"/>
              <a:t>16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21268776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695A2F-E161-31A8-13FC-EAEE16408D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507BE-A545-1596-C272-D546B16A3A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11175"/>
          </a:xfrm>
        </p:spPr>
        <p:txBody>
          <a:bodyPr>
            <a:normAutofit/>
          </a:bodyPr>
          <a:lstStyle/>
          <a:p>
            <a:r>
              <a:rPr lang="en-SG" sz="2400" dirty="0">
                <a:latin typeface="Segoe"/>
              </a:rPr>
              <a:t>Papers</a:t>
            </a:r>
            <a:r>
              <a:rPr lang="en-SG" sz="2400" dirty="0"/>
              <a:t> on Traffic Safety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72D6EE18-5976-D7E4-2D03-A872AB82A67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77404706"/>
              </p:ext>
            </p:extLst>
          </p:nvPr>
        </p:nvGraphicFramePr>
        <p:xfrm>
          <a:off x="390524" y="916305"/>
          <a:ext cx="11439525" cy="511558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24551">
                  <a:extLst>
                    <a:ext uri="{9D8B030D-6E8A-4147-A177-3AD203B41FA5}">
                      <a16:colId xmlns:a16="http://schemas.microsoft.com/office/drawing/2014/main" val="2748299107"/>
                    </a:ext>
                  </a:extLst>
                </a:gridCol>
                <a:gridCol w="2105025">
                  <a:extLst>
                    <a:ext uri="{9D8B030D-6E8A-4147-A177-3AD203B41FA5}">
                      <a16:colId xmlns:a16="http://schemas.microsoft.com/office/drawing/2014/main" val="3340951359"/>
                    </a:ext>
                  </a:extLst>
                </a:gridCol>
                <a:gridCol w="1762125">
                  <a:extLst>
                    <a:ext uri="{9D8B030D-6E8A-4147-A177-3AD203B41FA5}">
                      <a16:colId xmlns:a16="http://schemas.microsoft.com/office/drawing/2014/main" val="4202918889"/>
                    </a:ext>
                  </a:extLst>
                </a:gridCol>
                <a:gridCol w="1647824">
                  <a:extLst>
                    <a:ext uri="{9D8B030D-6E8A-4147-A177-3AD203B41FA5}">
                      <a16:colId xmlns:a16="http://schemas.microsoft.com/office/drawing/2014/main" val="2870200122"/>
                    </a:ext>
                  </a:extLst>
                </a:gridCol>
              </a:tblGrid>
              <a:tr h="368790">
                <a:tc>
                  <a:txBody>
                    <a:bodyPr/>
                    <a:lstStyle/>
                    <a:p>
                      <a:r>
                        <a:rPr lang="en-SG" dirty="0">
                          <a:latin typeface="Segoe"/>
                        </a:rPr>
                        <a:t>Title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 dirty="0">
                          <a:latin typeface="Segoe"/>
                        </a:rPr>
                        <a:t>Author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 dirty="0">
                          <a:latin typeface="Segoe"/>
                        </a:rPr>
                        <a:t>Parameters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 dirty="0">
                          <a:latin typeface="Segoe"/>
                        </a:rPr>
                        <a:t>Method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9216884"/>
                  </a:ext>
                </a:extLst>
              </a:tr>
              <a:tr h="1454954">
                <a:tc>
                  <a:txBody>
                    <a:bodyPr/>
                    <a:lstStyle/>
                    <a:p>
                      <a:r>
                        <a:rPr lang="en-US" dirty="0">
                          <a:latin typeface="Segoe"/>
                        </a:rPr>
                        <a:t>A bivariate, non-stationary extreme value model for estimating opposing-through crash frequency by severity by applying artificial intelligence-based video analytics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 dirty="0">
                          <a:latin typeface="Segoe"/>
                        </a:rPr>
                        <a:t>Howlader et 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 dirty="0">
                          <a:latin typeface="Segoe"/>
                        </a:rPr>
                        <a:t>Gap time (GT),</a:t>
                      </a:r>
                      <a:br>
                        <a:rPr lang="en-SG" dirty="0">
                          <a:latin typeface="Segoe"/>
                        </a:rPr>
                      </a:br>
                      <a:r>
                        <a:rPr lang="en-SG" dirty="0">
                          <a:latin typeface="Segoe"/>
                        </a:rPr>
                        <a:t>TTC, PET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 dirty="0">
                          <a:latin typeface="Segoe"/>
                        </a:rPr>
                        <a:t>YOLOv3, </a:t>
                      </a:r>
                    </a:p>
                    <a:p>
                      <a:r>
                        <a:rPr lang="en-SG" dirty="0">
                          <a:latin typeface="Segoe"/>
                        </a:rPr>
                        <a:t>Deep SORT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49580697"/>
                  </a:ext>
                </a:extLst>
              </a:tr>
              <a:tr h="1193776">
                <a:tc>
                  <a:txBody>
                    <a:bodyPr/>
                    <a:lstStyle/>
                    <a:p>
                      <a:r>
                        <a:rPr lang="en-US" dirty="0">
                          <a:latin typeface="Segoe"/>
                        </a:rPr>
                        <a:t>Spatial–Temporal Video Analysis For Advanced Traffic Conflict Detection And Risk Assessment Using Yolov8 And Attention-Enhanced Safety Metrics</a:t>
                      </a:r>
                      <a:endParaRPr lang="en-SG" dirty="0">
                        <a:latin typeface="Segoe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 dirty="0">
                          <a:latin typeface="Segoe"/>
                        </a:rPr>
                        <a:t>Singh et 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 dirty="0">
                          <a:latin typeface="Segoe"/>
                        </a:rPr>
                        <a:t>TTC, PET, DRAC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 dirty="0">
                          <a:latin typeface="Segoe"/>
                        </a:rPr>
                        <a:t>YOLOv8, </a:t>
                      </a:r>
                    </a:p>
                    <a:p>
                      <a:r>
                        <a:rPr lang="en-SG" dirty="0">
                          <a:latin typeface="Segoe"/>
                        </a:rPr>
                        <a:t>Deep SORT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463734"/>
                  </a:ext>
                </a:extLst>
              </a:tr>
              <a:tr h="1145955">
                <a:tc>
                  <a:txBody>
                    <a:bodyPr/>
                    <a:lstStyle/>
                    <a:p>
                      <a:r>
                        <a:rPr lang="en-US" dirty="0">
                          <a:latin typeface="Segoe"/>
                        </a:rPr>
                        <a:t>An automated surrogate safety analysis at protected highway ramps using cross-sectional and before–after video data</a:t>
                      </a:r>
                      <a:endParaRPr lang="en-SG" dirty="0">
                        <a:latin typeface="Segoe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 dirty="0">
                          <a:latin typeface="Segoe"/>
                        </a:rPr>
                        <a:t>Paul et 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 dirty="0">
                          <a:latin typeface="Segoe"/>
                        </a:rPr>
                        <a:t>TTC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 dirty="0">
                          <a:latin typeface="Segoe"/>
                        </a:rPr>
                        <a:t>Feature based, </a:t>
                      </a:r>
                    </a:p>
                    <a:p>
                      <a:r>
                        <a:rPr lang="en-SG" dirty="0">
                          <a:latin typeface="Segoe"/>
                        </a:rPr>
                        <a:t>Traffic Intelligence</a:t>
                      </a:r>
                    </a:p>
                    <a:p>
                      <a:r>
                        <a:rPr lang="en-SG" dirty="0">
                          <a:latin typeface="Segoe"/>
                        </a:rPr>
                        <a:t>(Open Source)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75260596"/>
                  </a:ext>
                </a:extLst>
              </a:tr>
              <a:tr h="909346">
                <a:tc>
                  <a:txBody>
                    <a:bodyPr/>
                    <a:lstStyle/>
                    <a:p>
                      <a:r>
                        <a:rPr lang="en-US" dirty="0"/>
                        <a:t>A systematic review of traffic conflict-based safety measures with a focus on application context</a:t>
                      </a:r>
                      <a:endParaRPr lang="en-SG" dirty="0">
                        <a:latin typeface="Segoe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 dirty="0">
                          <a:latin typeface="Segoe"/>
                        </a:rPr>
                        <a:t>Arun et 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 dirty="0">
                          <a:latin typeface="Segoe"/>
                        </a:rPr>
                        <a:t>All possible parameters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 dirty="0">
                          <a:latin typeface="Segoe"/>
                        </a:rPr>
                        <a:t>Meta study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203595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A3420E-4AA5-CDAB-6F0B-55B86CB629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A9BC9-D8B1-4891-B6BA-9E7C0DED908A}" type="slidenum">
              <a:rPr lang="en-SG" smtClean="0"/>
              <a:t>17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6438210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BB7C79-9388-3686-E8D1-0EE5A7120C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SG" sz="3200" dirty="0"/>
              <a:t>Next step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8F4B9D-0F7C-DF24-3CCD-2EF890D8DF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8635" y="1690688"/>
            <a:ext cx="10515600" cy="1325563"/>
          </a:xfrm>
        </p:spPr>
        <p:txBody>
          <a:bodyPr>
            <a:normAutofit fontScale="92500" lnSpcReduction="10000"/>
          </a:bodyPr>
          <a:lstStyle/>
          <a:p>
            <a:r>
              <a:rPr lang="en-SG" dirty="0"/>
              <a:t>Continue reading papers</a:t>
            </a:r>
          </a:p>
          <a:p>
            <a:r>
              <a:rPr lang="en-SG" dirty="0"/>
              <a:t>Learning video processing using YOLO + Deep SORT</a:t>
            </a:r>
          </a:p>
          <a:p>
            <a:r>
              <a:rPr lang="en-SG" dirty="0"/>
              <a:t>Preparing Specification of Camera Set-up to be installed in Bangladesh</a:t>
            </a:r>
          </a:p>
          <a:p>
            <a:pPr marL="0" indent="0">
              <a:buNone/>
            </a:pPr>
            <a:endParaRPr lang="en-SG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30A415-5A8F-869A-8DDC-27FF5B4A2E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A9BC9-D8B1-4891-B6BA-9E7C0DED908A}" type="slidenum">
              <a:rPr lang="en-SG" smtClean="0"/>
              <a:t>18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14121891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9711BB-AB7C-AE33-7D54-EFB6DEFE8F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750B01-DA0B-BB03-C8B2-37B46D31E4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SG" sz="2000" dirty="0">
                <a:latin typeface="Segoe"/>
                <a:ea typeface="+mn-ea"/>
                <a:cs typeface="+mn-cs"/>
              </a:rPr>
              <a:t>Comments from 28 April 2026 Meeting: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6BFB28-E113-5021-A9F2-39758C97B6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2721" y="1497458"/>
            <a:ext cx="10971079" cy="394555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SG" sz="2000" dirty="0">
                <a:solidFill>
                  <a:schemeClr val="accent3"/>
                </a:solidFill>
                <a:latin typeface="Segoe"/>
              </a:rPr>
              <a:t>Azis </a:t>
            </a:r>
            <a:r>
              <a:rPr lang="en-SG" sz="2000" dirty="0" err="1">
                <a:solidFill>
                  <a:schemeClr val="accent3"/>
                </a:solidFill>
                <a:latin typeface="Segoe"/>
              </a:rPr>
              <a:t>san</a:t>
            </a:r>
            <a:r>
              <a:rPr lang="en-SG" sz="2000" dirty="0">
                <a:solidFill>
                  <a:schemeClr val="accent3"/>
                </a:solidFill>
                <a:latin typeface="Segoe"/>
              </a:rPr>
              <a:t>:</a:t>
            </a:r>
          </a:p>
          <a:p>
            <a:r>
              <a:rPr lang="en-SG" sz="2000" dirty="0">
                <a:latin typeface="Segoe"/>
              </a:rPr>
              <a:t>Include the process of estimating traffic flow, traffic safety (</a:t>
            </a:r>
            <a:r>
              <a:rPr lang="en-US" sz="2000" dirty="0"/>
              <a:t>TTC, MTTC</a:t>
            </a:r>
            <a:r>
              <a:rPr lang="en-SG" sz="2000" dirty="0">
                <a:latin typeface="Segoe"/>
              </a:rPr>
              <a:t>) and emission from video data.</a:t>
            </a:r>
          </a:p>
          <a:p>
            <a:r>
              <a:rPr lang="en-SG" sz="2000" dirty="0">
                <a:latin typeface="Segoe"/>
              </a:rPr>
              <a:t>For acquiring video data please make sure that all the administrative conditions are met both in Japan and Bangladesh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92BC85-3D2B-3E2C-6DBC-78537B160C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A9BC9-D8B1-4891-B6BA-9E7C0DED908A}" type="slidenum">
              <a:rPr lang="en-SG" smtClean="0"/>
              <a:t>19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78566476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E3D473-A5B1-E1AE-6531-28D3351C00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728" y="87431"/>
            <a:ext cx="10564184" cy="808560"/>
          </a:xfrm>
        </p:spPr>
        <p:txBody>
          <a:bodyPr>
            <a:normAutofit/>
          </a:bodyPr>
          <a:lstStyle/>
          <a:p>
            <a:r>
              <a:rPr lang="en-SG" sz="3200" dirty="0"/>
              <a:t>Progress update (13</a:t>
            </a:r>
            <a:r>
              <a:rPr lang="en-SG" sz="3200" baseline="30000" dirty="0"/>
              <a:t>th</a:t>
            </a:r>
            <a:r>
              <a:rPr lang="en-SG" sz="3200" dirty="0"/>
              <a:t>  May)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B3F60FD1-8E1E-C1CA-1062-51EAA604D88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40732405"/>
              </p:ext>
            </p:extLst>
          </p:nvPr>
        </p:nvGraphicFramePr>
        <p:xfrm>
          <a:off x="144728" y="767818"/>
          <a:ext cx="11760883" cy="5552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18300">
                  <a:extLst>
                    <a:ext uri="{9D8B030D-6E8A-4147-A177-3AD203B41FA5}">
                      <a16:colId xmlns:a16="http://schemas.microsoft.com/office/drawing/2014/main" val="1622987482"/>
                    </a:ext>
                  </a:extLst>
                </a:gridCol>
                <a:gridCol w="4559726">
                  <a:extLst>
                    <a:ext uri="{9D8B030D-6E8A-4147-A177-3AD203B41FA5}">
                      <a16:colId xmlns:a16="http://schemas.microsoft.com/office/drawing/2014/main" val="2412207688"/>
                    </a:ext>
                  </a:extLst>
                </a:gridCol>
                <a:gridCol w="3982857">
                  <a:extLst>
                    <a:ext uri="{9D8B030D-6E8A-4147-A177-3AD203B41FA5}">
                      <a16:colId xmlns:a16="http://schemas.microsoft.com/office/drawing/2014/main" val="359278812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T</a:t>
                      </a:r>
                      <a:r>
                        <a:rPr lang="en-SG" dirty="0"/>
                        <a:t>asks from Previous meeting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 dirty="0"/>
                        <a:t>Comment from group 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 dirty="0"/>
                        <a:t>Update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965608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SG" sz="1600" dirty="0"/>
                        <a:t>Continue reading papers</a:t>
                      </a:r>
                    </a:p>
                    <a:p>
                      <a:endParaRPr lang="en-SG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SG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 sz="1600" dirty="0"/>
                        <a:t>ongoing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604736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SG" sz="1600" dirty="0"/>
                        <a:t>Learning video processing using YOLO + Deep SORT</a:t>
                      </a:r>
                    </a:p>
                    <a:p>
                      <a:endParaRPr lang="en-SG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SG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 sz="1600" dirty="0"/>
                        <a:t>Installed VS Code, learning is ongoing.</a:t>
                      </a:r>
                    </a:p>
                    <a:p>
                      <a:r>
                        <a:rPr lang="en-SG" sz="1600" dirty="0"/>
                        <a:t>Detecting the traffic is ongoing.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895929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SG" sz="1600" dirty="0"/>
                        <a:t>Preparing Specification of Camera Set-up to be installed in Bangladesh</a:t>
                      </a:r>
                    </a:p>
                    <a:p>
                      <a:endParaRPr lang="en-SG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SG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 sz="1600" dirty="0"/>
                        <a:t>Minimum HD (Preferably 4k)</a:t>
                      </a:r>
                    </a:p>
                    <a:p>
                      <a:r>
                        <a:rPr lang="en-SG" sz="1600" dirty="0"/>
                        <a:t>Frame rate 30 FPS or higher</a:t>
                      </a:r>
                    </a:p>
                    <a:p>
                      <a:r>
                        <a:rPr lang="en-SG" sz="1600" dirty="0"/>
                        <a:t>Camera Mount Height minimum 8 meters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42464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SG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SG" sz="1600" dirty="0">
                          <a:latin typeface="Segoe"/>
                        </a:rPr>
                        <a:t>Include the process of estimating traffic flow, traffic safety (</a:t>
                      </a:r>
                      <a:r>
                        <a:rPr lang="en-US" sz="1600" dirty="0"/>
                        <a:t>TTC, MTTC</a:t>
                      </a:r>
                      <a:r>
                        <a:rPr lang="en-SG" sz="1600" dirty="0">
                          <a:latin typeface="Segoe"/>
                        </a:rPr>
                        <a:t>) and emission from video data.</a:t>
                      </a:r>
                    </a:p>
                    <a:p>
                      <a:endParaRPr lang="en-SG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 sz="1600" dirty="0"/>
                        <a:t>Ongoing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50331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SG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SG" sz="1600" dirty="0">
                          <a:latin typeface="Segoe"/>
                        </a:rPr>
                        <a:t>For acquiring video data please make sure that all the administrative conditions are met both in Japan and Bangladesh</a:t>
                      </a:r>
                    </a:p>
                    <a:p>
                      <a:endParaRPr lang="en-SG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 sz="1600" dirty="0"/>
                        <a:t>Ongoing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146339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SG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SG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 sz="1600" dirty="0"/>
                        <a:t>Installed PTV VISSIM and obtained Student License.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0086476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51BFE7-2A91-340F-6775-8E48BC8CBA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A9BC9-D8B1-4891-B6BA-9E7C0DED908A}" type="slidenum">
              <a:rPr lang="en-SG" smtClean="0"/>
              <a:t>20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0036692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65B505-7D49-1543-6299-ECC8BCDAC2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Rectangle: Rounded Corners 53">
            <a:extLst>
              <a:ext uri="{FF2B5EF4-FFF2-40B4-BE49-F238E27FC236}">
                <a16:creationId xmlns:a16="http://schemas.microsoft.com/office/drawing/2014/main" id="{CC7D5A00-C16A-FBFE-6610-66CA3E701350}"/>
              </a:ext>
            </a:extLst>
          </p:cNvPr>
          <p:cNvSpPr/>
          <p:nvPr/>
        </p:nvSpPr>
        <p:spPr>
          <a:xfrm>
            <a:off x="-276225" y="4421124"/>
            <a:ext cx="12934133" cy="1485900"/>
          </a:xfrm>
          <a:prstGeom prst="roundRect">
            <a:avLst/>
          </a:prstGeom>
          <a:solidFill>
            <a:schemeClr val="accent6">
              <a:lumMod val="40000"/>
              <a:lumOff val="60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55" name="Rectangle: Rounded Corners 54">
            <a:extLst>
              <a:ext uri="{FF2B5EF4-FFF2-40B4-BE49-F238E27FC236}">
                <a16:creationId xmlns:a16="http://schemas.microsoft.com/office/drawing/2014/main" id="{725BE854-5A63-B52D-421B-9B276D92E57B}"/>
              </a:ext>
            </a:extLst>
          </p:cNvPr>
          <p:cNvSpPr/>
          <p:nvPr/>
        </p:nvSpPr>
        <p:spPr>
          <a:xfrm>
            <a:off x="-206454" y="2537460"/>
            <a:ext cx="12522279" cy="1485900"/>
          </a:xfrm>
          <a:prstGeom prst="roundRect">
            <a:avLst/>
          </a:prstGeom>
          <a:solidFill>
            <a:schemeClr val="accent2">
              <a:lumMod val="40000"/>
              <a:lumOff val="60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C6A1CA52-4581-461B-DC5A-74504959DC75}"/>
              </a:ext>
            </a:extLst>
          </p:cNvPr>
          <p:cNvSpPr/>
          <p:nvPr/>
        </p:nvSpPr>
        <p:spPr>
          <a:xfrm>
            <a:off x="-276224" y="774954"/>
            <a:ext cx="13282790" cy="1485900"/>
          </a:xfrm>
          <a:prstGeom prst="roundRect">
            <a:avLst/>
          </a:prstGeom>
          <a:solidFill>
            <a:schemeClr val="accent1">
              <a:lumMod val="20000"/>
              <a:lumOff val="80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0D8EDFB-BEC4-DE02-FBB1-43F7B58BC36F}"/>
              </a:ext>
            </a:extLst>
          </p:cNvPr>
          <p:cNvSpPr/>
          <p:nvPr/>
        </p:nvSpPr>
        <p:spPr>
          <a:xfrm>
            <a:off x="0" y="0"/>
            <a:ext cx="12191999" cy="71323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B093B06-31BE-5DCC-16C1-40298DEDA791}"/>
              </a:ext>
            </a:extLst>
          </p:cNvPr>
          <p:cNvSpPr txBox="1"/>
          <p:nvPr/>
        </p:nvSpPr>
        <p:spPr>
          <a:xfrm>
            <a:off x="295086" y="177022"/>
            <a:ext cx="2510303" cy="3693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400" dirty="0">
                <a:solidFill>
                  <a:schemeClr val="accent6">
                    <a:lumMod val="50000"/>
                  </a:schemeClr>
                </a:solidFill>
              </a:rPr>
              <a:t>Methodology Flow: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37F1AB9F-FB18-D68A-8725-63D42802EAB2}"/>
              </a:ext>
            </a:extLst>
          </p:cNvPr>
          <p:cNvSpPr/>
          <p:nvPr/>
        </p:nvSpPr>
        <p:spPr>
          <a:xfrm>
            <a:off x="347472" y="960120"/>
            <a:ext cx="1600200" cy="914400"/>
          </a:xfrm>
          <a:prstGeom prst="roundRect">
            <a:avLst/>
          </a:prstGeom>
          <a:noFill/>
          <a:ln w="25400">
            <a:solidFill>
              <a:srgbClr val="2461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8888367-D234-74D6-2616-CED94A312A89}"/>
              </a:ext>
            </a:extLst>
          </p:cNvPr>
          <p:cNvSpPr txBox="1"/>
          <p:nvPr/>
        </p:nvSpPr>
        <p:spPr>
          <a:xfrm>
            <a:off x="420624" y="1060704"/>
            <a:ext cx="1453896" cy="768096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algn="ctr"/>
            <a:r>
              <a:rPr sz="1200" b="1">
                <a:solidFill>
                  <a:srgbClr val="2461A0"/>
                </a:solidFill>
              </a:rPr>
              <a:t>1. Define Study</a:t>
            </a:r>
          </a:p>
          <a:p>
            <a:pPr algn="ctr">
              <a:spcBef>
                <a:spcPts val="200"/>
              </a:spcBef>
            </a:pPr>
            <a:r>
              <a:rPr sz="869">
                <a:solidFill>
                  <a:srgbClr val="2D3038"/>
                </a:solidFill>
              </a:rPr>
              <a:t>Urban highway corridor
&amp; representative section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A841E757-2654-685A-E282-921185D5CAB9}"/>
              </a:ext>
            </a:extLst>
          </p:cNvPr>
          <p:cNvSpPr/>
          <p:nvPr/>
        </p:nvSpPr>
        <p:spPr>
          <a:xfrm>
            <a:off x="2240280" y="960120"/>
            <a:ext cx="1783080" cy="914400"/>
          </a:xfrm>
          <a:prstGeom prst="roundRect">
            <a:avLst/>
          </a:prstGeom>
          <a:noFill/>
          <a:ln w="25400">
            <a:solidFill>
              <a:srgbClr val="2461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ADA58D3-D110-EA05-C691-F1570CF73A28}"/>
              </a:ext>
            </a:extLst>
          </p:cNvPr>
          <p:cNvSpPr txBox="1"/>
          <p:nvPr/>
        </p:nvSpPr>
        <p:spPr>
          <a:xfrm>
            <a:off x="2313432" y="1060704"/>
            <a:ext cx="1636776" cy="768096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algn="ctr"/>
            <a:r>
              <a:rPr sz="1200" b="1" dirty="0">
                <a:solidFill>
                  <a:srgbClr val="248B84"/>
                </a:solidFill>
              </a:rPr>
              <a:t>2. Data Inputs</a:t>
            </a:r>
          </a:p>
          <a:p>
            <a:pPr algn="ctr">
              <a:spcBef>
                <a:spcPts val="200"/>
              </a:spcBef>
            </a:pPr>
            <a:r>
              <a:rPr sz="869" dirty="0">
                <a:solidFill>
                  <a:srgbClr val="2D3038"/>
                </a:solidFill>
              </a:rPr>
              <a:t>Video surveillance +
RHD/BRT/BBS/survey data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1B2D8D03-EBAB-C6BF-2967-09B42CBDCA6B}"/>
              </a:ext>
            </a:extLst>
          </p:cNvPr>
          <p:cNvSpPr/>
          <p:nvPr/>
        </p:nvSpPr>
        <p:spPr>
          <a:xfrm>
            <a:off x="4315968" y="960120"/>
            <a:ext cx="1783080" cy="914400"/>
          </a:xfrm>
          <a:prstGeom prst="roundRect">
            <a:avLst/>
          </a:prstGeom>
          <a:noFill/>
          <a:ln w="25400">
            <a:solidFill>
              <a:srgbClr val="2461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0FCC940-391D-B90A-CCF6-5BFD8F5B0E8D}"/>
              </a:ext>
            </a:extLst>
          </p:cNvPr>
          <p:cNvSpPr txBox="1"/>
          <p:nvPr/>
        </p:nvSpPr>
        <p:spPr>
          <a:xfrm>
            <a:off x="4373959" y="1030987"/>
            <a:ext cx="1636776" cy="768096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algn="ctr"/>
            <a:r>
              <a:rPr sz="1200" b="1" dirty="0">
                <a:solidFill>
                  <a:srgbClr val="248B84"/>
                </a:solidFill>
              </a:rPr>
              <a:t>3. Video Analytics</a:t>
            </a:r>
          </a:p>
          <a:p>
            <a:pPr algn="ctr">
              <a:spcBef>
                <a:spcPts val="200"/>
              </a:spcBef>
            </a:pPr>
            <a:r>
              <a:rPr sz="869" dirty="0">
                <a:solidFill>
                  <a:srgbClr val="2D3038"/>
                </a:solidFill>
              </a:rPr>
              <a:t>Vehicle detection, tracking
&amp; trajectory extraction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5994E4A0-A456-2845-F695-6477E0C28741}"/>
              </a:ext>
            </a:extLst>
          </p:cNvPr>
          <p:cNvSpPr/>
          <p:nvPr/>
        </p:nvSpPr>
        <p:spPr>
          <a:xfrm>
            <a:off x="6400800" y="868680"/>
            <a:ext cx="5394960" cy="1234440"/>
          </a:xfrm>
          <a:prstGeom prst="roundRect">
            <a:avLst/>
          </a:prstGeom>
          <a:noFill/>
          <a:ln w="25400">
            <a:solidFill>
              <a:srgbClr val="2461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1F1AA62-DDC4-78FF-88C4-0467D7055354}"/>
              </a:ext>
            </a:extLst>
          </p:cNvPr>
          <p:cNvSpPr txBox="1"/>
          <p:nvPr/>
        </p:nvSpPr>
        <p:spPr>
          <a:xfrm>
            <a:off x="6510528" y="950976"/>
            <a:ext cx="5175504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200" b="1" dirty="0">
                <a:solidFill>
                  <a:srgbClr val="61519B"/>
                </a:solidFill>
              </a:rPr>
              <a:t>4. Measure Performance Indicators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E004E2D8-B7EC-4201-2842-28EC4C87E94E}"/>
              </a:ext>
            </a:extLst>
          </p:cNvPr>
          <p:cNvSpPr/>
          <p:nvPr/>
        </p:nvSpPr>
        <p:spPr>
          <a:xfrm>
            <a:off x="6565392" y="1289304"/>
            <a:ext cx="1508760" cy="530352"/>
          </a:xfrm>
          <a:prstGeom prst="roundRect">
            <a:avLst/>
          </a:prstGeom>
          <a:noFill/>
          <a:ln w="17780">
            <a:solidFill>
              <a:srgbClr val="2461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864" tIns="0" rIns="54864" bIns="0" rtlCol="0" anchor="ctr"/>
          <a:lstStyle/>
          <a:p>
            <a:pPr algn="ctr"/>
            <a:r>
              <a:rPr sz="850" b="1">
                <a:solidFill>
                  <a:srgbClr val="2461A0"/>
                </a:solidFill>
              </a:rPr>
              <a:t>Traffic Flow
Count · Speed · Density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E3293665-E93A-035E-677E-3B79A62ADB12}"/>
              </a:ext>
            </a:extLst>
          </p:cNvPr>
          <p:cNvSpPr/>
          <p:nvPr/>
        </p:nvSpPr>
        <p:spPr>
          <a:xfrm>
            <a:off x="8211312" y="1289304"/>
            <a:ext cx="1691640" cy="530352"/>
          </a:xfrm>
          <a:prstGeom prst="roundRect">
            <a:avLst/>
          </a:prstGeom>
          <a:noFill/>
          <a:ln w="17780">
            <a:solidFill>
              <a:srgbClr val="BC44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864" tIns="0" rIns="54864" bIns="0" rtlCol="0" anchor="ctr"/>
          <a:lstStyle/>
          <a:p>
            <a:pPr algn="ctr"/>
            <a:r>
              <a:rPr sz="850" b="1" dirty="0">
                <a:solidFill>
                  <a:srgbClr val="BC443A"/>
                </a:solidFill>
              </a:rPr>
              <a:t>Traffic Safety
TTC · MTTC · PET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BC8A88F3-1539-4F59-620D-D4B75E5F3E7C}"/>
              </a:ext>
            </a:extLst>
          </p:cNvPr>
          <p:cNvSpPr/>
          <p:nvPr/>
        </p:nvSpPr>
        <p:spPr>
          <a:xfrm>
            <a:off x="10040112" y="1289304"/>
            <a:ext cx="1508760" cy="530352"/>
          </a:xfrm>
          <a:prstGeom prst="roundRect">
            <a:avLst/>
          </a:prstGeom>
          <a:noFill/>
          <a:ln w="17780">
            <a:solidFill>
              <a:srgbClr val="3E8E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864" tIns="0" rIns="54864" bIns="0" rtlCol="0" anchor="ctr"/>
          <a:lstStyle/>
          <a:p>
            <a:pPr algn="ctr"/>
            <a:r>
              <a:rPr sz="850" b="1" dirty="0">
                <a:solidFill>
                  <a:srgbClr val="3E8E53"/>
                </a:solidFill>
              </a:rPr>
              <a:t>Emission
GHG emission</a:t>
            </a:r>
          </a:p>
        </p:txBody>
      </p:sp>
      <p:cxnSp>
        <p:nvCxnSpPr>
          <p:cNvPr id="19" name="Connector 18">
            <a:extLst>
              <a:ext uri="{FF2B5EF4-FFF2-40B4-BE49-F238E27FC236}">
                <a16:creationId xmlns:a16="http://schemas.microsoft.com/office/drawing/2014/main" id="{ED74F66A-09E8-2F17-DB52-7FB234055657}"/>
              </a:ext>
            </a:extLst>
          </p:cNvPr>
          <p:cNvCxnSpPr/>
          <p:nvPr/>
        </p:nvCxnSpPr>
        <p:spPr>
          <a:xfrm>
            <a:off x="1947672" y="1417320"/>
            <a:ext cx="292608" cy="0"/>
          </a:xfrm>
          <a:prstGeom prst="line">
            <a:avLst/>
          </a:prstGeom>
          <a:ln w="22860">
            <a:solidFill>
              <a:srgbClr val="5A63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>
            <a:extLst>
              <a:ext uri="{FF2B5EF4-FFF2-40B4-BE49-F238E27FC236}">
                <a16:creationId xmlns:a16="http://schemas.microsoft.com/office/drawing/2014/main" id="{199574F9-D98A-87EE-FFE8-00566A2A764E}"/>
              </a:ext>
            </a:extLst>
          </p:cNvPr>
          <p:cNvCxnSpPr/>
          <p:nvPr/>
        </p:nvCxnSpPr>
        <p:spPr>
          <a:xfrm>
            <a:off x="4023360" y="1417320"/>
            <a:ext cx="292608" cy="0"/>
          </a:xfrm>
          <a:prstGeom prst="line">
            <a:avLst/>
          </a:prstGeom>
          <a:ln w="22860">
            <a:solidFill>
              <a:srgbClr val="5A63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>
            <a:extLst>
              <a:ext uri="{FF2B5EF4-FFF2-40B4-BE49-F238E27FC236}">
                <a16:creationId xmlns:a16="http://schemas.microsoft.com/office/drawing/2014/main" id="{8D288EEF-F3DC-70D9-ED8F-62D79F3BE21D}"/>
              </a:ext>
            </a:extLst>
          </p:cNvPr>
          <p:cNvCxnSpPr/>
          <p:nvPr/>
        </p:nvCxnSpPr>
        <p:spPr>
          <a:xfrm>
            <a:off x="6099048" y="1417320"/>
            <a:ext cx="301752" cy="0"/>
          </a:xfrm>
          <a:prstGeom prst="line">
            <a:avLst/>
          </a:prstGeom>
          <a:ln w="22860">
            <a:solidFill>
              <a:srgbClr val="5A63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9E562453-57F2-C628-E4E2-2F1554E009CD}"/>
              </a:ext>
            </a:extLst>
          </p:cNvPr>
          <p:cNvSpPr/>
          <p:nvPr/>
        </p:nvSpPr>
        <p:spPr>
          <a:xfrm>
            <a:off x="914400" y="2788920"/>
            <a:ext cx="1965960" cy="960120"/>
          </a:xfrm>
          <a:prstGeom prst="roundRect">
            <a:avLst/>
          </a:prstGeom>
          <a:noFill/>
          <a:ln w="25400">
            <a:solidFill>
              <a:srgbClr val="D674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B51DBCA-D7B3-4E0C-9963-095127DB993A}"/>
              </a:ext>
            </a:extLst>
          </p:cNvPr>
          <p:cNvSpPr txBox="1"/>
          <p:nvPr/>
        </p:nvSpPr>
        <p:spPr>
          <a:xfrm>
            <a:off x="987552" y="2889503"/>
            <a:ext cx="1819656" cy="813816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algn="ctr"/>
            <a:r>
              <a:rPr sz="1100" b="1">
                <a:solidFill>
                  <a:srgbClr val="2461A0"/>
                </a:solidFill>
              </a:rPr>
              <a:t>5. Build Baseline
Microsimulation</a:t>
            </a:r>
          </a:p>
          <a:p>
            <a:pPr algn="ctr">
              <a:spcBef>
                <a:spcPts val="200"/>
              </a:spcBef>
            </a:pPr>
            <a:r>
              <a:rPr sz="869">
                <a:solidFill>
                  <a:srgbClr val="2D3038"/>
                </a:solidFill>
              </a:rPr>
              <a:t>Develop VISSIM model for
the selected highway section</a:t>
            </a:r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84865BB9-80DB-CAE2-9395-D3ACDE17383B}"/>
              </a:ext>
            </a:extLst>
          </p:cNvPr>
          <p:cNvSpPr/>
          <p:nvPr/>
        </p:nvSpPr>
        <p:spPr>
          <a:xfrm>
            <a:off x="3520440" y="2788920"/>
            <a:ext cx="2148840" cy="960120"/>
          </a:xfrm>
          <a:prstGeom prst="roundRect">
            <a:avLst/>
          </a:prstGeom>
          <a:noFill/>
          <a:ln w="25400">
            <a:solidFill>
              <a:srgbClr val="D674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5E165BE-8BF7-4C9E-9D7B-49825065118D}"/>
              </a:ext>
            </a:extLst>
          </p:cNvPr>
          <p:cNvSpPr txBox="1"/>
          <p:nvPr/>
        </p:nvSpPr>
        <p:spPr>
          <a:xfrm>
            <a:off x="3593592" y="2889503"/>
            <a:ext cx="2002536" cy="813816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algn="ctr"/>
            <a:r>
              <a:rPr sz="1200" b="1">
                <a:solidFill>
                  <a:srgbClr val="248B84"/>
                </a:solidFill>
              </a:rPr>
              <a:t>6. Calibrate &amp; Validate</a:t>
            </a:r>
          </a:p>
          <a:p>
            <a:pPr algn="ctr">
              <a:spcBef>
                <a:spcPts val="200"/>
              </a:spcBef>
            </a:pPr>
            <a:r>
              <a:rPr sz="869">
                <a:solidFill>
                  <a:srgbClr val="2D3038"/>
                </a:solidFill>
              </a:rPr>
              <a:t>Match simulated outputs with
video-derived field measures</a:t>
            </a:r>
          </a:p>
        </p:txBody>
      </p: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2A675C20-83EA-A95B-1814-5121ABB4C82D}"/>
              </a:ext>
            </a:extLst>
          </p:cNvPr>
          <p:cNvSpPr/>
          <p:nvPr/>
        </p:nvSpPr>
        <p:spPr>
          <a:xfrm>
            <a:off x="6355080" y="2788920"/>
            <a:ext cx="2148840" cy="960120"/>
          </a:xfrm>
          <a:prstGeom prst="roundRect">
            <a:avLst/>
          </a:prstGeom>
          <a:noFill/>
          <a:ln w="25400">
            <a:solidFill>
              <a:srgbClr val="D674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6A7F9F6-4F88-1AB9-9DF8-CB2544B4F5D3}"/>
              </a:ext>
            </a:extLst>
          </p:cNvPr>
          <p:cNvSpPr txBox="1"/>
          <p:nvPr/>
        </p:nvSpPr>
        <p:spPr>
          <a:xfrm>
            <a:off x="6428232" y="2889503"/>
            <a:ext cx="2002536" cy="813816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algn="ctr"/>
            <a:r>
              <a:rPr sz="1200" b="1">
                <a:solidFill>
                  <a:srgbClr val="D67426"/>
                </a:solidFill>
              </a:rPr>
              <a:t>7. Scenario Design</a:t>
            </a:r>
          </a:p>
          <a:p>
            <a:pPr algn="ctr">
              <a:spcBef>
                <a:spcPts val="200"/>
              </a:spcBef>
            </a:pPr>
            <a:r>
              <a:rPr sz="869">
                <a:solidFill>
                  <a:srgbClr val="2D3038"/>
                </a:solidFill>
              </a:rPr>
              <a:t>Replace BRT lane with
High Occupancy Vehicle lane</a:t>
            </a:r>
          </a:p>
        </p:txBody>
      </p:sp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784143C8-9B88-3363-42CC-0476FA8060B9}"/>
              </a:ext>
            </a:extLst>
          </p:cNvPr>
          <p:cNvSpPr/>
          <p:nvPr/>
        </p:nvSpPr>
        <p:spPr>
          <a:xfrm>
            <a:off x="9162288" y="2788920"/>
            <a:ext cx="1965960" cy="960120"/>
          </a:xfrm>
          <a:prstGeom prst="roundRect">
            <a:avLst/>
          </a:prstGeom>
          <a:noFill/>
          <a:ln w="25400">
            <a:solidFill>
              <a:srgbClr val="D674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D702E5C-40C1-3B8E-211F-212806283921}"/>
              </a:ext>
            </a:extLst>
          </p:cNvPr>
          <p:cNvSpPr txBox="1"/>
          <p:nvPr/>
        </p:nvSpPr>
        <p:spPr>
          <a:xfrm>
            <a:off x="9235440" y="2889503"/>
            <a:ext cx="1819656" cy="813816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algn="ctr"/>
            <a:r>
              <a:rPr sz="1200" b="1">
                <a:solidFill>
                  <a:srgbClr val="61519B"/>
                </a:solidFill>
              </a:rPr>
              <a:t>8. Scenario Analysis</a:t>
            </a:r>
          </a:p>
          <a:p>
            <a:pPr algn="ctr">
              <a:spcBef>
                <a:spcPts val="200"/>
              </a:spcBef>
            </a:pPr>
            <a:r>
              <a:rPr sz="869">
                <a:solidFill>
                  <a:srgbClr val="2D3038"/>
                </a:solidFill>
              </a:rPr>
              <a:t>Compare geometric layouts
&amp; time intervals</a:t>
            </a:r>
          </a:p>
        </p:txBody>
      </p:sp>
      <p:cxnSp>
        <p:nvCxnSpPr>
          <p:cNvPr id="34" name="Connector 33">
            <a:extLst>
              <a:ext uri="{FF2B5EF4-FFF2-40B4-BE49-F238E27FC236}">
                <a16:creationId xmlns:a16="http://schemas.microsoft.com/office/drawing/2014/main" id="{7749E1D9-3866-F163-DD3B-1201DF92482F}"/>
              </a:ext>
            </a:extLst>
          </p:cNvPr>
          <p:cNvCxnSpPr/>
          <p:nvPr/>
        </p:nvCxnSpPr>
        <p:spPr>
          <a:xfrm flipH="1">
            <a:off x="1901952" y="2103120"/>
            <a:ext cx="7196328" cy="685800"/>
          </a:xfrm>
          <a:prstGeom prst="line">
            <a:avLst/>
          </a:prstGeom>
          <a:ln w="17780">
            <a:solidFill>
              <a:srgbClr val="78808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>
            <a:extLst>
              <a:ext uri="{FF2B5EF4-FFF2-40B4-BE49-F238E27FC236}">
                <a16:creationId xmlns:a16="http://schemas.microsoft.com/office/drawing/2014/main" id="{C588E868-0CDE-81A3-E27D-9F6462A725D6}"/>
              </a:ext>
            </a:extLst>
          </p:cNvPr>
          <p:cNvCxnSpPr/>
          <p:nvPr/>
        </p:nvCxnSpPr>
        <p:spPr>
          <a:xfrm>
            <a:off x="2880360" y="3273552"/>
            <a:ext cx="640080" cy="0"/>
          </a:xfrm>
          <a:prstGeom prst="line">
            <a:avLst/>
          </a:prstGeom>
          <a:ln w="22860">
            <a:solidFill>
              <a:srgbClr val="5A63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>
            <a:extLst>
              <a:ext uri="{FF2B5EF4-FFF2-40B4-BE49-F238E27FC236}">
                <a16:creationId xmlns:a16="http://schemas.microsoft.com/office/drawing/2014/main" id="{EEE965C1-E28D-668C-258A-46CF13453D06}"/>
              </a:ext>
            </a:extLst>
          </p:cNvPr>
          <p:cNvCxnSpPr/>
          <p:nvPr/>
        </p:nvCxnSpPr>
        <p:spPr>
          <a:xfrm>
            <a:off x="5669280" y="3273552"/>
            <a:ext cx="685800" cy="0"/>
          </a:xfrm>
          <a:prstGeom prst="line">
            <a:avLst/>
          </a:prstGeom>
          <a:ln w="22860">
            <a:solidFill>
              <a:srgbClr val="5A63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>
            <a:extLst>
              <a:ext uri="{FF2B5EF4-FFF2-40B4-BE49-F238E27FC236}">
                <a16:creationId xmlns:a16="http://schemas.microsoft.com/office/drawing/2014/main" id="{50FBD586-F1A3-F97F-B29C-07CDDA91DFAB}"/>
              </a:ext>
            </a:extLst>
          </p:cNvPr>
          <p:cNvCxnSpPr/>
          <p:nvPr/>
        </p:nvCxnSpPr>
        <p:spPr>
          <a:xfrm>
            <a:off x="8503920" y="3273552"/>
            <a:ext cx="658368" cy="0"/>
          </a:xfrm>
          <a:prstGeom prst="line">
            <a:avLst/>
          </a:prstGeom>
          <a:ln w="22860">
            <a:solidFill>
              <a:srgbClr val="5A63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>
            <a:extLst>
              <a:ext uri="{FF2B5EF4-FFF2-40B4-BE49-F238E27FC236}">
                <a16:creationId xmlns:a16="http://schemas.microsoft.com/office/drawing/2014/main" id="{BF3C049A-9CA5-555E-E019-D75D7C65C349}"/>
              </a:ext>
            </a:extLst>
          </p:cNvPr>
          <p:cNvSpPr/>
          <p:nvPr/>
        </p:nvSpPr>
        <p:spPr>
          <a:xfrm>
            <a:off x="1874519" y="4736592"/>
            <a:ext cx="2286000" cy="914400"/>
          </a:xfrm>
          <a:prstGeom prst="roundRect">
            <a:avLst/>
          </a:prstGeom>
          <a:noFill/>
          <a:ln w="25400">
            <a:solidFill>
              <a:srgbClr val="3E8E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525A5B7-A422-A448-F29A-9797ED881090}"/>
              </a:ext>
            </a:extLst>
          </p:cNvPr>
          <p:cNvSpPr txBox="1"/>
          <p:nvPr/>
        </p:nvSpPr>
        <p:spPr>
          <a:xfrm>
            <a:off x="1947672" y="4837176"/>
            <a:ext cx="2139696" cy="768096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algn="ctr"/>
            <a:r>
              <a:rPr sz="1100" b="1" dirty="0">
                <a:solidFill>
                  <a:srgbClr val="3E8E53"/>
                </a:solidFill>
              </a:rPr>
              <a:t>9. Multi-objective
</a:t>
            </a:r>
            <a:r>
              <a:rPr sz="1100" b="1" dirty="0" err="1">
                <a:solidFill>
                  <a:srgbClr val="3E8E53"/>
                </a:solidFill>
              </a:rPr>
              <a:t>Optimisation</a:t>
            </a:r>
            <a:endParaRPr sz="1100" b="1" dirty="0">
              <a:solidFill>
                <a:srgbClr val="3E8E53"/>
              </a:solidFill>
            </a:endParaRPr>
          </a:p>
          <a:p>
            <a:pPr algn="ctr">
              <a:spcBef>
                <a:spcPts val="200"/>
              </a:spcBef>
            </a:pPr>
            <a:r>
              <a:rPr sz="869" dirty="0">
                <a:solidFill>
                  <a:srgbClr val="2D3038"/>
                </a:solidFill>
              </a:rPr>
              <a:t>GA / NSGA-II for efficiency,
safety and emissions</a:t>
            </a:r>
          </a:p>
        </p:txBody>
      </p:sp>
      <p:sp>
        <p:nvSpPr>
          <p:cNvPr id="41" name="Rounded Rectangle 40">
            <a:extLst>
              <a:ext uri="{FF2B5EF4-FFF2-40B4-BE49-F238E27FC236}">
                <a16:creationId xmlns:a16="http://schemas.microsoft.com/office/drawing/2014/main" id="{81FBBA47-EC02-B011-3F1A-208E8542CF4E}"/>
              </a:ext>
            </a:extLst>
          </p:cNvPr>
          <p:cNvSpPr/>
          <p:nvPr/>
        </p:nvSpPr>
        <p:spPr>
          <a:xfrm>
            <a:off x="4828032" y="4736592"/>
            <a:ext cx="2240280" cy="914400"/>
          </a:xfrm>
          <a:prstGeom prst="roundRect">
            <a:avLst/>
          </a:prstGeom>
          <a:noFill/>
          <a:ln w="25400">
            <a:solidFill>
              <a:srgbClr val="3E8E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72332597-E940-B36E-6D97-5C21A93845DD}"/>
              </a:ext>
            </a:extLst>
          </p:cNvPr>
          <p:cNvSpPr txBox="1"/>
          <p:nvPr/>
        </p:nvSpPr>
        <p:spPr>
          <a:xfrm>
            <a:off x="4901184" y="4837176"/>
            <a:ext cx="2093976" cy="768096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algn="ctr"/>
            <a:r>
              <a:rPr sz="1100" b="1" dirty="0">
                <a:solidFill>
                  <a:srgbClr val="3E8E53"/>
                </a:solidFill>
              </a:rPr>
              <a:t>10. Select </a:t>
            </a:r>
            <a:r>
              <a:rPr sz="1100" b="1" dirty="0" err="1">
                <a:solidFill>
                  <a:srgbClr val="3E8E53"/>
                </a:solidFill>
              </a:rPr>
              <a:t>Optimised</a:t>
            </a:r>
            <a:r>
              <a:rPr sz="1100" b="1" dirty="0">
                <a:solidFill>
                  <a:srgbClr val="3E8E53"/>
                </a:solidFill>
              </a:rPr>
              <a:t>
Solution</a:t>
            </a:r>
          </a:p>
          <a:p>
            <a:pPr algn="ctr">
              <a:spcBef>
                <a:spcPts val="200"/>
              </a:spcBef>
            </a:pPr>
            <a:r>
              <a:rPr sz="869" dirty="0">
                <a:solidFill>
                  <a:srgbClr val="2D3038"/>
                </a:solidFill>
              </a:rPr>
              <a:t>Identify best lane configuration
&amp; operational strategy</a:t>
            </a:r>
          </a:p>
        </p:txBody>
      </p:sp>
      <p:sp>
        <p:nvSpPr>
          <p:cNvPr id="44" name="Rounded Rectangle 43">
            <a:extLst>
              <a:ext uri="{FF2B5EF4-FFF2-40B4-BE49-F238E27FC236}">
                <a16:creationId xmlns:a16="http://schemas.microsoft.com/office/drawing/2014/main" id="{69887B7D-02BE-9264-C80C-CC377B59124F}"/>
              </a:ext>
            </a:extLst>
          </p:cNvPr>
          <p:cNvSpPr/>
          <p:nvPr/>
        </p:nvSpPr>
        <p:spPr>
          <a:xfrm>
            <a:off x="7699248" y="4736592"/>
            <a:ext cx="2514600" cy="914400"/>
          </a:xfrm>
          <a:prstGeom prst="roundRect">
            <a:avLst/>
          </a:prstGeom>
          <a:noFill/>
          <a:ln w="25400">
            <a:solidFill>
              <a:srgbClr val="3E8E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5D80EF22-015B-F751-2909-FF9F936508DF}"/>
              </a:ext>
            </a:extLst>
          </p:cNvPr>
          <p:cNvSpPr txBox="1"/>
          <p:nvPr/>
        </p:nvSpPr>
        <p:spPr>
          <a:xfrm>
            <a:off x="7772400" y="4837176"/>
            <a:ext cx="2368296" cy="768096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algn="ctr"/>
            <a:r>
              <a:rPr sz="1100" b="1" dirty="0">
                <a:solidFill>
                  <a:srgbClr val="3E8E53"/>
                </a:solidFill>
              </a:rPr>
              <a:t>11. Research Output</a:t>
            </a:r>
          </a:p>
          <a:p>
            <a:pPr algn="ctr">
              <a:spcBef>
                <a:spcPts val="200"/>
              </a:spcBef>
            </a:pPr>
            <a:r>
              <a:rPr sz="869" dirty="0" err="1">
                <a:solidFill>
                  <a:srgbClr val="2D3038"/>
                </a:solidFill>
              </a:rPr>
              <a:t>Optimised</a:t>
            </a:r>
            <a:r>
              <a:rPr sz="869" dirty="0">
                <a:solidFill>
                  <a:srgbClr val="2D3038"/>
                </a:solidFill>
              </a:rPr>
              <a:t> corridor performance
for sustainable urban mobility</a:t>
            </a:r>
          </a:p>
        </p:txBody>
      </p:sp>
      <p:cxnSp>
        <p:nvCxnSpPr>
          <p:cNvPr id="47" name="Connector 46">
            <a:extLst>
              <a:ext uri="{FF2B5EF4-FFF2-40B4-BE49-F238E27FC236}">
                <a16:creationId xmlns:a16="http://schemas.microsoft.com/office/drawing/2014/main" id="{6BA90665-2A67-65AE-376F-115847FF7DE4}"/>
              </a:ext>
            </a:extLst>
          </p:cNvPr>
          <p:cNvCxnSpPr/>
          <p:nvPr/>
        </p:nvCxnSpPr>
        <p:spPr>
          <a:xfrm flipH="1">
            <a:off x="3017520" y="3749039"/>
            <a:ext cx="7132320" cy="987553"/>
          </a:xfrm>
          <a:prstGeom prst="line">
            <a:avLst/>
          </a:prstGeom>
          <a:ln w="17780">
            <a:solidFill>
              <a:srgbClr val="78808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>
            <a:extLst>
              <a:ext uri="{FF2B5EF4-FFF2-40B4-BE49-F238E27FC236}">
                <a16:creationId xmlns:a16="http://schemas.microsoft.com/office/drawing/2014/main" id="{B80994F3-29C6-FFE7-EB36-5BF3B6DAE73D}"/>
              </a:ext>
            </a:extLst>
          </p:cNvPr>
          <p:cNvCxnSpPr/>
          <p:nvPr/>
        </p:nvCxnSpPr>
        <p:spPr>
          <a:xfrm>
            <a:off x="4160520" y="5193792"/>
            <a:ext cx="667512" cy="0"/>
          </a:xfrm>
          <a:prstGeom prst="line">
            <a:avLst/>
          </a:prstGeom>
          <a:ln w="22860">
            <a:solidFill>
              <a:srgbClr val="5A63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>
            <a:extLst>
              <a:ext uri="{FF2B5EF4-FFF2-40B4-BE49-F238E27FC236}">
                <a16:creationId xmlns:a16="http://schemas.microsoft.com/office/drawing/2014/main" id="{96C824F2-7FE1-2042-6FA2-66535F80C010}"/>
              </a:ext>
            </a:extLst>
          </p:cNvPr>
          <p:cNvCxnSpPr/>
          <p:nvPr/>
        </p:nvCxnSpPr>
        <p:spPr>
          <a:xfrm>
            <a:off x="7068312" y="5193792"/>
            <a:ext cx="630936" cy="0"/>
          </a:xfrm>
          <a:prstGeom prst="line">
            <a:avLst/>
          </a:prstGeom>
          <a:ln w="22860">
            <a:solidFill>
              <a:srgbClr val="5A63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>
            <a:extLst>
              <a:ext uri="{FF2B5EF4-FFF2-40B4-BE49-F238E27FC236}">
                <a16:creationId xmlns:a16="http://schemas.microsoft.com/office/drawing/2014/main" id="{5B6F2BA4-1183-0DC5-6D91-32F4A77D7377}"/>
              </a:ext>
            </a:extLst>
          </p:cNvPr>
          <p:cNvCxnSpPr/>
          <p:nvPr/>
        </p:nvCxnSpPr>
        <p:spPr>
          <a:xfrm flipH="1">
            <a:off x="1901952" y="3749039"/>
            <a:ext cx="2688336" cy="0"/>
          </a:xfrm>
          <a:prstGeom prst="bentConnector3">
            <a:avLst/>
          </a:prstGeom>
          <a:ln w="16510">
            <a:solidFill>
              <a:srgbClr val="78808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>
            <a:extLst>
              <a:ext uri="{FF2B5EF4-FFF2-40B4-BE49-F238E27FC236}">
                <a16:creationId xmlns:a16="http://schemas.microsoft.com/office/drawing/2014/main" id="{2EF21EBB-9546-D9AC-AE42-FC8DB9A692EE}"/>
              </a:ext>
            </a:extLst>
          </p:cNvPr>
          <p:cNvSpPr txBox="1"/>
          <p:nvPr/>
        </p:nvSpPr>
        <p:spPr>
          <a:xfrm>
            <a:off x="2514600" y="3822191"/>
            <a:ext cx="192024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800" i="1">
                <a:solidFill>
                  <a:srgbClr val="646973"/>
                </a:solidFill>
              </a:rPr>
              <a:t>iterate until validation acceptable</a:t>
            </a:r>
          </a:p>
        </p:txBody>
      </p:sp>
      <p:sp>
        <p:nvSpPr>
          <p:cNvPr id="52" name="Rounded Rectangle 51">
            <a:extLst>
              <a:ext uri="{FF2B5EF4-FFF2-40B4-BE49-F238E27FC236}">
                <a16:creationId xmlns:a16="http://schemas.microsoft.com/office/drawing/2014/main" id="{F77678B6-BCE8-7F20-8A11-B82712C90400}"/>
              </a:ext>
            </a:extLst>
          </p:cNvPr>
          <p:cNvSpPr/>
          <p:nvPr/>
        </p:nvSpPr>
        <p:spPr>
          <a:xfrm>
            <a:off x="347472" y="6199632"/>
            <a:ext cx="11475720" cy="384048"/>
          </a:xfrm>
          <a:prstGeom prst="roundRect">
            <a:avLst/>
          </a:prstGeom>
          <a:solidFill>
            <a:srgbClr val="EB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0" rIns="109728" bIns="0" rtlCol="0" anchor="ctr"/>
          <a:lstStyle/>
          <a:p>
            <a:pPr algn="ctr"/>
            <a:r>
              <a:rPr sz="1000" b="1" dirty="0">
                <a:solidFill>
                  <a:srgbClr val="1F3556"/>
                </a:solidFill>
              </a:rPr>
              <a:t>Decision criteria: </a:t>
            </a:r>
            <a:r>
              <a:rPr sz="1000" b="1" dirty="0" err="1">
                <a:solidFill>
                  <a:srgbClr val="1F3556"/>
                </a:solidFill>
              </a:rPr>
              <a:t>minimise</a:t>
            </a:r>
            <a:r>
              <a:rPr sz="1000" b="1" dirty="0">
                <a:solidFill>
                  <a:srgbClr val="1F3556"/>
                </a:solidFill>
              </a:rPr>
              <a:t> delay/congestion, reduce traffic conflicts, and lower GHG emissions while improving corridor efficiency.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097B5594-1E01-9FD4-CA5E-1859E6663473}"/>
              </a:ext>
            </a:extLst>
          </p:cNvPr>
          <p:cNvSpPr txBox="1"/>
          <p:nvPr/>
        </p:nvSpPr>
        <p:spPr>
          <a:xfrm>
            <a:off x="347472" y="6611112"/>
            <a:ext cx="11475720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650">
                <a:solidFill>
                  <a:srgbClr val="6E747E"/>
                </a:solidFill>
              </a:rPr>
              <a:t>Prepared from research plan: Optimising Traffic Flow, Safety and Carbon Emission on an Urban Highway Corridor of Bangladesh</a:t>
            </a:r>
          </a:p>
        </p:txBody>
      </p:sp>
    </p:spTree>
    <p:extLst>
      <p:ext uri="{BB962C8B-B14F-4D97-AF65-F5344CB8AC3E}">
        <p14:creationId xmlns:p14="http://schemas.microsoft.com/office/powerpoint/2010/main" val="333527612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6CBD03-EE3E-7B37-A8A5-A06BBDA24B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0824557" cy="915035"/>
          </a:xfrm>
        </p:spPr>
        <p:txBody>
          <a:bodyPr>
            <a:normAutofit/>
          </a:bodyPr>
          <a:lstStyle/>
          <a:p>
            <a:r>
              <a:rPr lang="en-SG" sz="3200" dirty="0"/>
              <a:t>Flow Chart for Measuring Performance Indicators (Generic)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685158-0487-CD9F-4D27-A35CEC81A1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A9BC9-D8B1-4891-B6BA-9E7C0DED908A}" type="slidenum">
              <a:rPr lang="en-SG" smtClean="0"/>
              <a:t>22</a:t>
            </a:fld>
            <a:endParaRPr lang="en-SG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68FCC2E-6F3C-E270-00CC-C71203F4F28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8268" r="6264"/>
          <a:stretch>
            <a:fillRect/>
          </a:stretch>
        </p:blipFill>
        <p:spPr>
          <a:xfrm>
            <a:off x="838199" y="1280160"/>
            <a:ext cx="6492855" cy="3820831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8E223A5C-D762-367A-E149-BDA2AB8F5B09}"/>
              </a:ext>
            </a:extLst>
          </p:cNvPr>
          <p:cNvSpPr txBox="1">
            <a:spLocks/>
          </p:cNvSpPr>
          <p:nvPr/>
        </p:nvSpPr>
        <p:spPr>
          <a:xfrm>
            <a:off x="572203" y="5577840"/>
            <a:ext cx="10676760" cy="36512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SG" sz="1400" dirty="0"/>
              <a:t>Ref: </a:t>
            </a:r>
          </a:p>
          <a:p>
            <a:r>
              <a:rPr lang="en-SG" sz="1400" dirty="0"/>
              <a:t>Coifman, B., Beymer, D., McLauchlan, P., &amp; Malik, J. (1998). A real-time computer vision system for vehicle tracking and traffic surveillance. </a:t>
            </a:r>
            <a:r>
              <a:rPr lang="en-SG" sz="1400" i="1" dirty="0"/>
              <a:t>Transportation Research Part C: Emerging Technologies, 6</a:t>
            </a:r>
            <a:r>
              <a:rPr lang="en-SG" sz="1400" dirty="0"/>
              <a:t>(4), 271–288. https://doi.org/10.1016/S0968-090X(98)00019-9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7E2EEB11-F23F-4BCC-E9C2-6654F788C1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45120" y="1096348"/>
            <a:ext cx="3713877" cy="9521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464694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0F202E-C032-59B8-F7DE-3C18F3B368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07B13E-9267-055C-E8AA-E199EE47FB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0824557" cy="915035"/>
          </a:xfrm>
        </p:spPr>
        <p:txBody>
          <a:bodyPr>
            <a:normAutofit/>
          </a:bodyPr>
          <a:lstStyle/>
          <a:p>
            <a:r>
              <a:rPr lang="en-SG" sz="3200" dirty="0"/>
              <a:t>Flow Chart for Measuring Performance Indicators (Using YOLO)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6B53C8-F162-4A84-7DF3-8FA55CEAE4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A9BC9-D8B1-4891-B6BA-9E7C0DED908A}" type="slidenum">
              <a:rPr lang="en-SG" smtClean="0"/>
              <a:t>23</a:t>
            </a:fld>
            <a:endParaRPr lang="en-SG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025C31E8-E37D-CB33-03DD-200B4FB47BF7}"/>
              </a:ext>
            </a:extLst>
          </p:cNvPr>
          <p:cNvSpPr txBox="1">
            <a:spLocks/>
          </p:cNvSpPr>
          <p:nvPr/>
        </p:nvSpPr>
        <p:spPr>
          <a:xfrm>
            <a:off x="5910349" y="5086776"/>
            <a:ext cx="6118000" cy="111390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SG" sz="1400" dirty="0"/>
              <a:t>Ref: </a:t>
            </a:r>
          </a:p>
          <a:p>
            <a:r>
              <a:rPr lang="en-SG" sz="1400" dirty="0"/>
              <a:t>Singh, A., &amp; Dass, S. (2025). Spatial–temporal video analysis for advanced traffic conflict detection and risk assessment using YOLOv8 and attention-enhanced safety metrics. </a:t>
            </a:r>
            <a:r>
              <a:rPr lang="en-SG" sz="1400" i="1" dirty="0"/>
              <a:t>International Journal of Intelligent Transportation Systems Research, 23</a:t>
            </a:r>
            <a:r>
              <a:rPr lang="en-SG" sz="1400" dirty="0"/>
              <a:t>, 2252–2272. https://doi.org/10.1007/s13177-025-00572-y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C3D7E35-41BA-2377-ED85-5022B6E4B3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3038" y="1280160"/>
            <a:ext cx="4714703" cy="523651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04A1625-A16F-66EE-9C61-27BA2BD0BA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45120" y="1096348"/>
            <a:ext cx="3713877" cy="9521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427568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927BA4-C61B-9DEF-2CBD-171B01F341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169E33-B98B-D052-1717-909C5F7515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0824557" cy="915035"/>
          </a:xfrm>
        </p:spPr>
        <p:txBody>
          <a:bodyPr>
            <a:normAutofit/>
          </a:bodyPr>
          <a:lstStyle/>
          <a:p>
            <a:r>
              <a:rPr lang="en-SG" sz="3200" dirty="0"/>
              <a:t>Flow Chart for Measuring Performance Indicators (Using YOLO)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7211ED-3192-C34D-5862-FF47E0D281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A9BC9-D8B1-4891-B6BA-9E7C0DED908A}" type="slidenum">
              <a:rPr lang="en-SG" smtClean="0"/>
              <a:t>24</a:t>
            </a:fld>
            <a:endParaRPr lang="en-SG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48D78C8B-6EC0-AE92-7ADF-7546699623D7}"/>
              </a:ext>
            </a:extLst>
          </p:cNvPr>
          <p:cNvSpPr txBox="1">
            <a:spLocks/>
          </p:cNvSpPr>
          <p:nvPr/>
        </p:nvSpPr>
        <p:spPr>
          <a:xfrm>
            <a:off x="1097280" y="5378969"/>
            <a:ext cx="10731564" cy="111390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SG" sz="1400" dirty="0"/>
              <a:t>Ref: </a:t>
            </a:r>
          </a:p>
          <a:p>
            <a:r>
              <a:rPr lang="en-US" sz="1400" dirty="0"/>
              <a:t>Song, H., Liang, H., Li, H., Dai, Z., &amp; Yun, X. (2019). Vision-based vehicle detection and counting system using deep learning in highway scenes. </a:t>
            </a:r>
            <a:r>
              <a:rPr lang="en-US" sz="1400" i="1" dirty="0"/>
              <a:t>European Transport Research Review, 11</a:t>
            </a:r>
            <a:r>
              <a:rPr lang="en-US" sz="1400" dirty="0"/>
              <a:t>, Article 51. https://doi.org/10.1186/s12544-019-0390-4</a:t>
            </a:r>
            <a:endParaRPr lang="en-SG" sz="1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FF7E531-E718-B253-BA32-155773E652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048519"/>
            <a:ext cx="10481736" cy="313850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823B5F5-5B04-9201-E094-3F80E481AA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45120" y="1096348"/>
            <a:ext cx="3713877" cy="9521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487234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5C10B6-1B8A-8413-F931-9344742CBA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113396-6794-C493-0415-B2B4EAAB1F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0824557" cy="915035"/>
          </a:xfrm>
        </p:spPr>
        <p:txBody>
          <a:bodyPr>
            <a:normAutofit/>
          </a:bodyPr>
          <a:lstStyle/>
          <a:p>
            <a:r>
              <a:rPr lang="en-SG" sz="3200" dirty="0"/>
              <a:t>Flow Chart for Measuring Performance Indicators (Multi Object)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37EB8A-ED1C-F5FC-3BFB-935ABFC14D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A9BC9-D8B1-4891-B6BA-9E7C0DED908A}" type="slidenum">
              <a:rPr lang="en-SG" smtClean="0"/>
              <a:t>25</a:t>
            </a:fld>
            <a:endParaRPr lang="en-SG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CCFD89F0-61C6-1444-E381-15DF19C86A5C}"/>
              </a:ext>
            </a:extLst>
          </p:cNvPr>
          <p:cNvSpPr txBox="1">
            <a:spLocks/>
          </p:cNvSpPr>
          <p:nvPr/>
        </p:nvSpPr>
        <p:spPr>
          <a:xfrm>
            <a:off x="1097280" y="5378969"/>
            <a:ext cx="10731564" cy="111390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SG" sz="1400" dirty="0"/>
              <a:t>Ref: </a:t>
            </a:r>
          </a:p>
          <a:p>
            <a:r>
              <a:rPr lang="en-US" sz="1400" dirty="0"/>
              <a:t>Song, H., Liang, H., Li, H., Dai, Z., &amp; Yun, X. (2019). Vision-based vehicle detection and counting system using deep learning in highway scenes. </a:t>
            </a:r>
            <a:r>
              <a:rPr lang="en-US" sz="1400" i="1" dirty="0"/>
              <a:t>European Transport Research Review, 11</a:t>
            </a:r>
            <a:r>
              <a:rPr lang="en-US" sz="1400" dirty="0"/>
              <a:t>, Article 51. https://doi.org/10.1186/s12544-019-0390-4</a:t>
            </a:r>
            <a:endParaRPr lang="en-SG" sz="14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A8AC5D1-5DE2-E2A7-6AA9-D55E37974A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45120" y="1096348"/>
            <a:ext cx="3713877" cy="95217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6C278D6-544F-1F1C-6197-BF64056636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9397" y="1572433"/>
            <a:ext cx="7585723" cy="39353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209850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A63D13-3EE3-B185-553C-7D7FA98400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F11425-11DA-CFCA-E4CC-A57C74CC3C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728" y="87431"/>
            <a:ext cx="10564184" cy="808560"/>
          </a:xfrm>
        </p:spPr>
        <p:txBody>
          <a:bodyPr>
            <a:normAutofit/>
          </a:bodyPr>
          <a:lstStyle/>
          <a:p>
            <a:r>
              <a:rPr lang="en-SG" sz="3200" dirty="0"/>
              <a:t>Progress update (20</a:t>
            </a:r>
            <a:r>
              <a:rPr lang="en-SG" sz="3200" baseline="30000" dirty="0"/>
              <a:t>th</a:t>
            </a:r>
            <a:r>
              <a:rPr lang="en-SG" sz="3200" dirty="0"/>
              <a:t> May)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AEB6982D-EC0D-3F7E-7AE7-B903AD24170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29544232"/>
              </p:ext>
            </p:extLst>
          </p:nvPr>
        </p:nvGraphicFramePr>
        <p:xfrm>
          <a:off x="144728" y="767818"/>
          <a:ext cx="11760883" cy="3622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18300">
                  <a:extLst>
                    <a:ext uri="{9D8B030D-6E8A-4147-A177-3AD203B41FA5}">
                      <a16:colId xmlns:a16="http://schemas.microsoft.com/office/drawing/2014/main" val="1622987482"/>
                    </a:ext>
                  </a:extLst>
                </a:gridCol>
                <a:gridCol w="4559726">
                  <a:extLst>
                    <a:ext uri="{9D8B030D-6E8A-4147-A177-3AD203B41FA5}">
                      <a16:colId xmlns:a16="http://schemas.microsoft.com/office/drawing/2014/main" val="2412207688"/>
                    </a:ext>
                  </a:extLst>
                </a:gridCol>
                <a:gridCol w="3982857">
                  <a:extLst>
                    <a:ext uri="{9D8B030D-6E8A-4147-A177-3AD203B41FA5}">
                      <a16:colId xmlns:a16="http://schemas.microsoft.com/office/drawing/2014/main" val="359278812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T</a:t>
                      </a:r>
                      <a:r>
                        <a:rPr lang="en-SG" dirty="0"/>
                        <a:t>asks from Previous meeting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 dirty="0"/>
                        <a:t>Comment from group 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 dirty="0"/>
                        <a:t>Update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965608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SG" sz="1600" dirty="0"/>
                        <a:t>Continue reading papers</a:t>
                      </a:r>
                    </a:p>
                    <a:p>
                      <a:endParaRPr lang="en-SG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SG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 sz="1600" dirty="0"/>
                        <a:t>ongoing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604736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SG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Try to acquire image from higher elevation and wider angle and run the script to detect the vehicles, </a:t>
                      </a:r>
                      <a:endParaRPr lang="en-SG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SG" sz="16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Measure the accuracy with manual counting. </a:t>
                      </a:r>
                    </a:p>
                    <a:p>
                      <a:endParaRPr lang="en-SG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 sz="1600" dirty="0"/>
                        <a:t>Draft video presented with counting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895929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SG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SG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SG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42464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SG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SG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SG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50331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SG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SG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SG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146339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SG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SG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SG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0086476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005476-E77B-8A6B-CAC0-D0EEAE3F2E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A9BC9-D8B1-4891-B6BA-9E7C0DED908A}" type="slidenum">
              <a:rPr lang="en-SG" smtClean="0"/>
              <a:t>26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81642274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CB56AB-3F49-38B8-4B52-1A0B4C90A1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7A70F0-B66A-2E21-0E6F-0CDF07D3C7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728" y="87431"/>
            <a:ext cx="10564184" cy="808560"/>
          </a:xfrm>
        </p:spPr>
        <p:txBody>
          <a:bodyPr>
            <a:normAutofit/>
          </a:bodyPr>
          <a:lstStyle/>
          <a:p>
            <a:r>
              <a:rPr lang="en-SG" sz="3200" dirty="0"/>
              <a:t>Progress update (</a:t>
            </a:r>
            <a:r>
              <a:rPr lang="en-SG" sz="3200" baseline="30000" dirty="0"/>
              <a:t>12th</a:t>
            </a:r>
            <a:r>
              <a:rPr lang="en-SG" sz="3200" dirty="0"/>
              <a:t> June 2026)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8381A94A-D7C8-8094-42FD-E59C78A69D5B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44728" y="767818"/>
          <a:ext cx="11760883" cy="3622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18300">
                  <a:extLst>
                    <a:ext uri="{9D8B030D-6E8A-4147-A177-3AD203B41FA5}">
                      <a16:colId xmlns:a16="http://schemas.microsoft.com/office/drawing/2014/main" val="1622987482"/>
                    </a:ext>
                  </a:extLst>
                </a:gridCol>
                <a:gridCol w="4559726">
                  <a:extLst>
                    <a:ext uri="{9D8B030D-6E8A-4147-A177-3AD203B41FA5}">
                      <a16:colId xmlns:a16="http://schemas.microsoft.com/office/drawing/2014/main" val="2412207688"/>
                    </a:ext>
                  </a:extLst>
                </a:gridCol>
                <a:gridCol w="3982857">
                  <a:extLst>
                    <a:ext uri="{9D8B030D-6E8A-4147-A177-3AD203B41FA5}">
                      <a16:colId xmlns:a16="http://schemas.microsoft.com/office/drawing/2014/main" val="359278812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T</a:t>
                      </a:r>
                      <a:r>
                        <a:rPr lang="en-SG" dirty="0"/>
                        <a:t>asks from Previous meeting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 dirty="0"/>
                        <a:t>Comment from group 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 dirty="0"/>
                        <a:t>Update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965608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SG" sz="1600" dirty="0"/>
                        <a:t>Continue reading papers</a:t>
                      </a:r>
                    </a:p>
                    <a:p>
                      <a:endParaRPr lang="en-SG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SG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 sz="1600" dirty="0"/>
                        <a:t>ongoing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604736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SG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Try to acquire image from higher elevation and wider angle and run the script to detect the vehicles, </a:t>
                      </a:r>
                      <a:endParaRPr lang="en-SG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SG" sz="16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Measure the accuracy with manual counting. </a:t>
                      </a:r>
                    </a:p>
                    <a:p>
                      <a:endParaRPr lang="en-SG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 sz="1600" dirty="0"/>
                        <a:t>Draft video presented with counting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895929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SG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SG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SG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42464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SG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SG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SG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50331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SG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SG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SG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146339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SG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SG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SG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0086476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2FE704-64CF-3A14-D848-B360C3D9D9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A9BC9-D8B1-4891-B6BA-9E7C0DED908A}" type="slidenum">
              <a:rPr lang="en-SG" smtClean="0"/>
              <a:t>27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78933569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933993-1742-E37A-04F8-2E32B3B30D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endParaRPr lang="en-SG" sz="4400" dirty="0"/>
          </a:p>
          <a:p>
            <a:pPr marL="0" indent="0" algn="ctr">
              <a:buNone/>
            </a:pPr>
            <a:endParaRPr lang="en-SG" sz="4400" dirty="0">
              <a:solidFill>
                <a:schemeClr val="accent4">
                  <a:lumMod val="75000"/>
                </a:schemeClr>
              </a:solidFill>
            </a:endParaRPr>
          </a:p>
          <a:p>
            <a:pPr marL="0" indent="0" algn="ctr">
              <a:buNone/>
            </a:pPr>
            <a:r>
              <a:rPr lang="en-SG" sz="4400" dirty="0">
                <a:solidFill>
                  <a:schemeClr val="accent4">
                    <a:lumMod val="75000"/>
                  </a:schemeClr>
                </a:solidFill>
              </a:rPr>
              <a:t>Thank you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A23966-5596-9D9C-CE12-0E36E60622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A9BC9-D8B1-4891-B6BA-9E7C0DED908A}" type="slidenum">
              <a:rPr lang="en-SG" smtClean="0"/>
              <a:t>28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9280087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907</TotalTime>
  <Words>1635</Words>
  <Application>Microsoft Office PowerPoint</Application>
  <PresentationFormat>Widescreen</PresentationFormat>
  <Paragraphs>233</Paragraphs>
  <Slides>28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3" baseType="lpstr">
      <vt:lpstr>Aptos</vt:lpstr>
      <vt:lpstr>Aptos Display</vt:lpstr>
      <vt:lpstr>Arial</vt:lpstr>
      <vt:lpstr>Segoe</vt:lpstr>
      <vt:lpstr>Office Theme</vt:lpstr>
      <vt:lpstr>Sustainable Urban Transport:  Optimising Traffic Flow, Safety and Carbon Emission  on an Urban Highway Corridor of Bangladesh</vt:lpstr>
      <vt:lpstr> Research objectives:</vt:lpstr>
      <vt:lpstr>PowerPoint Presentation</vt:lpstr>
      <vt:lpstr>PowerPoint Presentation</vt:lpstr>
      <vt:lpstr>PowerPoint Presentation</vt:lpstr>
      <vt:lpstr>PowerPoint Presentation</vt:lpstr>
      <vt:lpstr>Video of Highway</vt:lpstr>
      <vt:lpstr>PowerPoint Presentation</vt:lpstr>
      <vt:lpstr>PowerPoint Presentation</vt:lpstr>
      <vt:lpstr>PowerPoint Presentation</vt:lpstr>
      <vt:lpstr>PowerPoint Presentation</vt:lpstr>
      <vt:lpstr>Optimisation between scenarios</vt:lpstr>
      <vt:lpstr>Base Emission Factors by Vehicle Type</vt:lpstr>
      <vt:lpstr>PowerPoint Presentation</vt:lpstr>
      <vt:lpstr>Comments from Previous Meetings:</vt:lpstr>
      <vt:lpstr>Papers on Traffic Flow</vt:lpstr>
      <vt:lpstr>Papers on Traffic Safety</vt:lpstr>
      <vt:lpstr>Next step</vt:lpstr>
      <vt:lpstr>Comments from 28 April 2026 Meeting:</vt:lpstr>
      <vt:lpstr>Progress update (13th  May)</vt:lpstr>
      <vt:lpstr>PowerPoint Presentation</vt:lpstr>
      <vt:lpstr>Flow Chart for Measuring Performance Indicators (Generic)</vt:lpstr>
      <vt:lpstr>Flow Chart for Measuring Performance Indicators (Using YOLO)</vt:lpstr>
      <vt:lpstr>Flow Chart for Measuring Performance Indicators (Using YOLO)</vt:lpstr>
      <vt:lpstr>Flow Chart for Measuring Performance Indicators (Multi Object)</vt:lpstr>
      <vt:lpstr>Progress update (20th May)</vt:lpstr>
      <vt:lpstr>Progress update (12th June 2026)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HUSSEIN MD TANVEER</dc:creator>
  <cp:lastModifiedBy>Tanveer Rahat</cp:lastModifiedBy>
  <cp:revision>38</cp:revision>
  <dcterms:created xsi:type="dcterms:W3CDTF">2025-10-14T13:37:31Z</dcterms:created>
  <dcterms:modified xsi:type="dcterms:W3CDTF">2026-06-12T07:00:25Z</dcterms:modified>
</cp:coreProperties>
</file>